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Guión de la presentación — TP1: Predicción de BTR con Transformers</a:t>
            </a:r>
          </a:p>
          <a:p/>
          <a:p>
            <a:r>
              <a:t>Duración medida: ~32 min de habla pura, ~36 min con pausas y transiciones. El rango pedido</a:t>
            </a:r>
          </a:p>
          <a:p>
            <a:r>
              <a:t>es 25–30, así que hay que recortar — abajo está la ruta corta. Está escrito para decir en</a:t>
            </a:r>
          </a:p>
          <a:p>
            <a:r>
              <a:t>voz alta, no para leer: frases cortas, sin subordinadas largas, con los tecnicismos justos. Lo</a:t>
            </a:r>
          </a:p>
          <a:p>
            <a:r>
              <a:t>que no está acá va en el apéndice de preguntas, al final.</a:t>
            </a:r>
          </a:p>
          <a:p/>
          <a:p>
            <a:r>
              <a:t>El mazo tiene 29 pantallas, todas se presentan — incluidas 4 divisorias de sección y el</a:t>
            </a:r>
          </a:p>
          <a:p>
            <a:r>
              <a:t>cierre. El apéndice de preguntas de este archivo no tiene diapositiva: es solo para responder.</a:t>
            </a:r>
          </a:p>
          <a:p/>
          <a:p>
            <a:r>
              <a:t>La presentación es presentacion.html (navegador, flechas ← →; imprimir a PDF si Campus pide</a:t>
            </a:r>
          </a:p>
          <a:p>
            <a:r>
              <a:t>archivo). presentacion.pptx es la misma, con este guión como notas del orador.</a:t>
            </a:r>
          </a:p>
          <a:p/>
          <a:p>
            <a:r>
              <a:t>Cada sección indica [tiempo], el texto hablado, y → en pantalla qué señalar.</a:t>
            </a:r>
          </a:p>
          <a:p/>
          <a:p>
            <a:r>
              <a:t>Ruta corta — para entrar en 28 minutos</a:t>
            </a:r>
          </a:p>
          <a:p/>
          <a:p>
            <a:r>
              <a:t>Estás en ~33 min de habla · ~37 con pausas. Hay que sacar unos 7 min. Recortá en este orden:</a:t>
            </a:r>
          </a:p>
          <a:p/>
          <a:p>
            <a:r>
              <a:t>Lo que no se toca nunca — por rubro o por peso propio: la 5 (el hallazgo del sufijo), la 10</a:t>
            </a:r>
          </a:p>
          <a:p>
            <a:r>
              <a:t>(la arquitectura), la 18 (el encoding, el experimento decisivo), la 21 (desafíos: el enunciado la</a:t>
            </a:r>
          </a:p>
          <a:p>
            <a:r>
              <a:t>pide como punto propio de la presentación), la 25 (overfitting/underfitting: la pide el ejercicio</a:t>
            </a:r>
          </a:p>
          <a:p>
            <a:r>
              <a:t>2.3) y la 27 (el ejercicio teórico de personalización).</a:t>
            </a:r>
          </a:p>
          <a:p/>
          <a:p>
            <a:r>
              <a:t>La 19 (inits) es el primer recorte porque no responde a ningún punto del enunciado: es un eje</a:t>
            </a:r>
          </a:p>
          <a:p>
            <a:r>
              <a:t>secundario con resultado negativo. Si la salteás, decilo en una frase dentro de la 21 —</a:t>
            </a:r>
          </a:p>
          <a:p>
            <a:r>
              <a:t>«pre-entrenar tampoco aportó» — y listo.</a:t>
            </a:r>
          </a:p>
          <a:p/>
          <a:p>
            <a:r>
              <a:t>1 · Portada — [30 s]</a:t>
            </a:r>
          </a:p>
          <a:p/>
          <a:p>
            <a:r>
              <a:t>"Buenas. Vamos a presentar el TP1: predicción de Buy Through Rate en un e-commerce de</a:t>
            </a:r>
          </a:p>
          <a:p>
            <a:r>
              <a:t>supermercado, usando Transformers.</a:t>
            </a:r>
          </a:p>
          <a:p/>
          <a:p>
            <a:r>
              <a:t>Lo vamos a contar en cuatro partes. Primero el problema: qué predecimos y qué encontramos en</a:t>
            </a:r>
          </a:p>
          <a:p>
            <a:r>
              <a:t>los datos. Después el modelo, dónde metimos el transformer y por qué ahí. Tercero los</a:t>
            </a:r>
          </a:p>
          <a:p>
            <a:r>
              <a:t>experimentos, que es donde decidimos cada pieza midiendo. Y al final los resultados, con el</a:t>
            </a:r>
          </a:p>
          <a:p>
            <a:r>
              <a:t>ejercicio teórico de personalización."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· Divisoria — El problema — [5 s]</a:t>
            </a:r>
          </a:p>
          <a:p/>
          <a:p>
            <a:r>
              <a:t>"El problema."</a:t>
            </a:r>
          </a:p>
          <a:p/>
          <a:p>
            <a:r>
              <a:t>→ en pantalla: pantalla oscura, número grande, «qué predecimos, con qué datos, y cómo lo medimos».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· El problema y la formulación — [1.3 min]</a:t>
            </a:r>
          </a:p>
          <a:p/>
          <a:p>
            <a:r>
              <a:t>"Primero: qué es el BTR.</a:t>
            </a:r>
          </a:p>
          <a:p/>
          <a:p>
            <a:r>
              <a:t>Es compras sobre impresiones. De todas las veces que mostramos un producto, cuántas terminaron</a:t>
            </a:r>
          </a:p>
          <a:p>
            <a:r>
              <a:t>en compra. Es una métrica de negocio — sirve para decidir qué promocionar.</a:t>
            </a:r>
          </a:p>
          <a:p/>
          <a:p>
            <a:r>
              <a:t>Lo primero que tuvimos que decidir fue qué predice el modelo exactamente. Y no es obvio,</a:t>
            </a:r>
          </a:p>
          <a:p>
            <a:r>
              <a:t>porque el dataset no es una lista de productos. Es un registro de eventos: cada fila es un</a:t>
            </a:r>
          </a:p>
          <a:p>
            <a:r>
              <a:t>producto que apareció en una búsqueda. El mismo producto puede estar en varias búsquedas, y</a:t>
            </a:r>
          </a:p>
          <a:p>
            <a:r>
              <a:t>cada vez es una fila distinta.</a:t>
            </a:r>
          </a:p>
          <a:p/>
          <a:p>
            <a:r>
              <a:t>Así que lo planteamos así: el modelo mira una impresión y dice qué probabilidad hay de que</a:t>
            </a:r>
          </a:p>
          <a:p>
            <a:r>
              <a:t>la compren.</a:t>
            </a:r>
          </a:p>
          <a:p/>
          <a:p>
            <a:r>
              <a:t>*(señalando el diagrama)* Fila del CSV, entra al modelo, sale una probabilidad. Y si querés el</a:t>
            </a:r>
          </a:p>
          <a:p>
            <a:r>
              <a:t>BTR de un producto, promediás las probabilidades de todas sus impresiones. Eso te da el ranking.</a:t>
            </a:r>
          </a:p>
          <a:p/>
          <a:p>
            <a:r>
              <a:t>Esto trae dos consecuencias que van a volver más adelante. Una: las métricas tienen que ser de</a:t>
            </a:r>
          </a:p>
          <a:p>
            <a:r>
              <a:t>clasificación, fila por fila. Nada de accuracy — ya vamos a ver por qué. Y dos, esta es</a:t>
            </a:r>
          </a:p>
          <a:p>
            <a:r>
              <a:t>importante: no elegimos ningún umbral. Nunca decimos 'si pasa de 0.5, lo compran'. Solo</a:t>
            </a:r>
          </a:p>
          <a:p>
            <a:r>
              <a:t>ordenamos."</a:t>
            </a:r>
          </a:p>
          <a:p/>
          <a:p>
            <a:r>
              <a:t>→ en pantalla: el flujo fila → p → agregación.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· EDA (1): la estructura y la primera trampa — [1.4 min]</a:t>
            </a:r>
          </a:p>
          <a:p/>
          <a:p>
            <a:r>
              <a:t>"Vamos a los datos.</a:t>
            </a:r>
          </a:p>
          <a:p/>
          <a:p>
            <a:r>
              <a:t>Diez mil impresiones, repartidas en dos mil búsquedas de entre uno y ocho productos. Trece por</a:t>
            </a:r>
          </a:p>
          <a:p>
            <a:r>
              <a:t>ciento de compras. Y los filtros de la búsqueda son constantes dentro de cada query — o sea,</a:t>
            </a:r>
          </a:p>
          <a:p>
            <a:r>
              <a:t>son contexto de la búsqueda, no del producto. Verificamos que el cien por ciento de los</a:t>
            </a:r>
          </a:p>
          <a:p>
            <a:r>
              <a:t>productos mostrados cumple su filtro, así que filter_category y filter_storage_type no</a:t>
            </a:r>
          </a:p>
          <a:p>
            <a:r>
              <a:t>aportan nada a nivel fila.</a:t>
            </a:r>
          </a:p>
          <a:p/>
          <a:p>
            <a:r>
              <a:t>Ahora, la primera trampa. Y esta es importante.</a:t>
            </a:r>
          </a:p>
          <a:p/>
          <a:p>
            <a:r>
              <a:t>*(señalando el panel rojo)* La columna cart. Si un producto se compró, siempre estuvo en</a:t>
            </a:r>
          </a:p>
          <a:p>
            <a:r>
              <a:t>el carrito. Cien por ciento de las filas, sin excepción.</a:t>
            </a:r>
          </a:p>
          <a:p/>
          <a:p>
            <a:r>
              <a:t>Eso parece una feature buenísima, y de hecho lo es — pero es trampa. cart es parte del mismo</a:t>
            </a:r>
          </a:p>
          <a:p>
            <a:r>
              <a:t>embudo: impresión, carrito, compra. Es un resultado del evento, no algo que sepamos cuando</a:t>
            </a:r>
          </a:p>
          <a:p>
            <a:r>
              <a:t>tenemos que decidir qué promocionar. En producción esa columna llega vacía.</a:t>
            </a:r>
          </a:p>
          <a:p/>
          <a:p>
            <a:r>
              <a:t>Y es peor que eso: si el carrito está en falso, la compra es cero. Siempre. Así que el setenta</a:t>
            </a:r>
          </a:p>
          <a:p>
            <a:r>
              <a:t>por ciento del dataset queda resuelto de una. El modelo aprendería a mirar solo eso.</a:t>
            </a:r>
          </a:p>
          <a:p/>
          <a:p>
            <a:r>
              <a:t>Entonces cart queda afuera. Más adelante la usamos de otra forma — como etiqueta auxiliar,</a:t>
            </a:r>
          </a:p>
          <a:p>
            <a:r>
              <a:t>que no es leakage porque el modelo la predice en vez de recibirla — pero tampoco aportó."</a:t>
            </a:r>
          </a:p>
          <a:p/>
          <a:p>
            <a:r>
              <a:t>→ en pantalla: la tabla de estructura y el panel rojo del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· EDA (2): la señal está escondida en el texto — [2.0 min]</a:t>
            </a:r>
          </a:p>
          <a:p/>
          <a:p>
            <a:r>
              <a:t>"Este es el hallazgo central del trabajo.</a:t>
            </a:r>
          </a:p>
          <a:p/>
          <a:p>
            <a:r>
              <a:t>Miramos los títulos de los productos y notamos que terminan con algo entre paréntesis. 'Best</a:t>
            </a:r>
          </a:p>
          <a:p>
            <a:r>
              <a:t>Seller'. 'Top Rated'. 'New Listing'. Pasa en el noventa y cinco por ciento de las filas. No era</a:t>
            </a:r>
          </a:p>
          <a:p>
            <a:r>
              <a:t>una columna: había que sacarlo del texto con una expresión regular.</a:t>
            </a:r>
          </a:p>
          <a:p/>
          <a:p>
            <a:r>
              <a:t>Y cuando lo separamos, aparece esto.</a:t>
            </a:r>
          </a:p>
          <a:p/>
          <a:p>
            <a:r>
              <a:t>*(señalando la tabla)* Hay veinte sufijos distintos, y se parten en tres grupos limpios. Cuatro</a:t>
            </a:r>
          </a:p>
          <a:p>
            <a:r>
              <a:t>compran entre el sesenta y tres y el sesenta y ocho por ciento. Otros cuatro compran entre el</a:t>
            </a:r>
          </a:p>
          <a:p>
            <a:r>
              <a:t>dos y el cuatro. Y los once restantes, más los que no tienen sufijo: cero exacto. Ninguna</a:t>
            </a:r>
          </a:p>
          <a:p>
            <a:r>
              <a:t>compra.</a:t>
            </a:r>
          </a:p>
          <a:p/>
          <a:p>
            <a:r>
              <a:t>Esa sola columna parte el dataset al medio.</a:t>
            </a:r>
          </a:p>
          <a:p/>
          <a:p>
            <a:r>
              <a:t>Pero acá está lo que más nos sorprendió: no es cuestión de sentimiento. 'Highly Rated'</a:t>
            </a:r>
          </a:p>
          <a:p>
            <a:r>
              <a:t>suena tan bien como 'Top Rated', y compra cincuenta veces menos. Si hubiéramos ordenado los</a:t>
            </a:r>
          </a:p>
          <a:p>
            <a:r>
              <a:t>niveles a ojo, por lo que parecen significar, nos equivocábamos feo. Hay que aprender la</a:t>
            </a:r>
          </a:p>
          <a:p>
            <a:r>
              <a:t>partición exacta de los datos, no la valencia de las palabras. Esto vuelve en la diapositiva</a:t>
            </a:r>
          </a:p>
          <a:p>
            <a:r>
              <a:t>de codificación, que es el experimento decisivo.</a:t>
            </a:r>
          </a:p>
          <a:p/>
          <a:p>
            <a:r>
              <a:t>*(señalando las tarjetas de la derecha)* Tres cosas más del EDA.</a:t>
            </a:r>
          </a:p>
          <a:p/>
          <a:p>
            <a:r>
              <a:t>El precio tiene efecto de U invertida dentro del rango que filtró el usuario: se compra más</a:t>
            </a:r>
          </a:p>
          <a:p>
            <a:r>
              <a:t>en el medio que en los extremos. Y está condicionado al tier. Por eso derivamos price_rel, la</a:t>
            </a:r>
          </a:p>
          <a:p>
            <a:r>
              <a:t>posición del precio dentro del rango — que es una señal relacional entre el producto y la</a:t>
            </a:r>
          </a:p>
          <a:p>
            <a:r>
              <a:t>búsqueda.</a:t>
            </a:r>
          </a:p>
          <a:p/>
          <a:p>
            <a:r>
              <a:t>Los timestamps están rotos: dentro de una misma búsqueda hay eventos separados por hasta</a:t>
            </a:r>
          </a:p>
          <a:p>
            <a:r>
              <a:t>dos años. Es imposible. Así que ni split temporal ni features de tiempo. Después lo verificamos:</a:t>
            </a:r>
          </a:p>
          <a:p>
            <a:r>
              <a:t>agregar hora y día empeora.</a:t>
            </a:r>
          </a:p>
          <a:p/>
          <a:p>
            <a:r>
              <a:t>Y hay redundancias: el tamaño del envase es el peso, las dimensiones son el envase, la</a:t>
            </a:r>
          </a:p>
          <a:p>
            <a:r>
              <a:t>descripción repite el sufijo."</a:t>
            </a:r>
          </a:p>
          <a:p/>
          <a:p>
            <a:r>
              <a:t>→ en pantalla: la tabla de tiers, y las tres tarjetas.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· Features y preprocesamiento — [1.5 min]</a:t>
            </a:r>
          </a:p>
          <a:p/>
          <a:p>
            <a:r>
              <a:t>"Con ese EDA, esto es lo que entra al modelo.</a:t>
            </a:r>
          </a:p>
          <a:p/>
          <a:p>
            <a:r>
              <a:t>Siete columnas categóricas y seis numéricas. Trece en total.</a:t>
            </a:r>
          </a:p>
          <a:p/>
          <a:p>
            <a:r>
              <a:t>Dos de ellas las derivamos nosotros. listing_status, que es el sufijo del título que acabamos</a:t>
            </a:r>
          </a:p>
          <a:p>
            <a:r>
              <a:t>de ver. Y price_rel, la posición del precio en el rango filtrado. Ninguna de las dos venía en</a:t>
            </a:r>
          </a:p>
          <a:p>
            <a:r>
              <a:t>el CSV.</a:t>
            </a:r>
          </a:p>
          <a:p/>
          <a:p>
            <a:r>
              <a:t>El preprocesamiento va por tipo. *(señalando el encabezado de cada panel)* Las numéricas van</a:t>
            </a:r>
          </a:p>
          <a:p>
            <a:r>
              <a:t>a media cero — z-score, con logaritmo antes en las dos que están sesgadas, precio y peso. Y las</a:t>
            </a:r>
          </a:p>
          <a:p>
            <a:r>
              <a:t>categóricas, cada nivel a un número. Ahí nos detuvimos, porque el enunciado sugería investigar</a:t>
            </a:r>
          </a:p>
          <a:p>
            <a:r>
              <a:t>one-hot y alternativas. Le dedicamos un experimento entero, es la diapositiva dieciocho.</a:t>
            </a:r>
          </a:p>
          <a:p/>
          <a:p>
            <a:r>
              <a:t>Un punto que nos importa: todo se ajusta solo con train. Los vocabularios, los promedios,</a:t>
            </a:r>
          </a:p>
          <a:p>
            <a:r>
              <a:t>las tablas de codificación. Si los calculáramos con todo el dataset estaríamos filtrando</a:t>
            </a:r>
          </a:p>
          <a:p>
            <a:r>
              <a:t>información de test. Y los niveles que aparecen en test y no estaban en train van a un valor</a:t>
            </a:r>
          </a:p>
          <a:p>
            <a:r>
              <a:t>especial de 'desconocido'.</a:t>
            </a:r>
          </a:p>
          <a:p/>
          <a:p>
            <a:r>
              <a:t>*(señalando el panel de abajo)* Y lo que queda afuera. Cada etiqueta roja dice por qué:</a:t>
            </a:r>
          </a:p>
          <a:p>
            <a:r>
              <a:t>cart es leakage, query_id solo sirve para partir, el timestamp está roto, los dos filtros</a:t>
            </a:r>
          </a:p>
          <a:p>
            <a:r>
              <a:t>son constantes dentro de la búsqueda, y las últimas cuatro repiten algo que ya tenemos.</a:t>
            </a:r>
          </a:p>
          <a:p/>
          <a:p>
            <a:r>
              <a:t>Acá hay algo metodológico que queremos remarcar: no descartamos en papel. Cada descarte lo</a:t>
            </a:r>
          </a:p>
          <a:p>
            <a:r>
              <a:t>volvimos a meter y medimos. Todos dieron diferencia cero."</a:t>
            </a:r>
          </a:p>
          <a:p/>
          <a:p>
            <a:r>
              <a:t>→ en pantalla: los dos paneles de arriba con las trece features en pastillas — las dos verdes</a:t>
            </a:r>
          </a:p>
          <a:p>
            <a:r>
              <a:t>son las que derivamos — y abajo el panel rojo de descartes.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· ¿Es válido usar "Best Seller"? — [1.5 min]</a:t>
            </a:r>
          </a:p>
          <a:p/>
          <a:p>
            <a:r>
              <a:t>"Acá tuvimos una discusión en el equipo que vale la pena contar.</a:t>
            </a:r>
          </a:p>
          <a:p/>
          <a:p>
            <a:r>
              <a:t>Esos badges se asignan después de que un producto vendió mucho. Entonces, ¿no es circular</a:t>
            </a:r>
          </a:p>
          <a:p>
            <a:r>
              <a:t>usarlos para predecir ventas?</a:t>
            </a:r>
          </a:p>
          <a:p/>
          <a:p>
            <a:r>
              <a:t>Lo resolvimos separando tres tipos de información.</a:t>
            </a:r>
          </a:p>
          <a:p/>
          <a:p>
            <a:r>
              <a:t>Uno: resultado del mismo evento. Eso es cart. Leakage estricto, nunca se usa.</a:t>
            </a:r>
          </a:p>
          <a:p/>
          <a:p>
            <a:r>
              <a:t>Dos: estado del producto al momento de mostrarlo. Los badges están acá. Cuando el buscador</a:t>
            </a:r>
          </a:p>
          <a:p>
            <a:r>
              <a:t>arma la página, el badge ya existe — está disponible. Y además es plausiblemente causal: la</a:t>
            </a:r>
          </a:p>
          <a:p>
            <a:r>
              <a:t>gente compra más lo que tiene prueba social. Así que es válido para predecir. Pero sí es</a:t>
            </a:r>
          </a:p>
          <a:p>
            <a:r>
              <a:t>circular para decidir promociones, y es ciego al producto nuevo que todavía no tiene badge.</a:t>
            </a:r>
          </a:p>
          <a:p/>
          <a:p>
            <a:r>
              <a:t>Tres: atributos intrínsecos, marca, peso, categoría. Válidos siempre.</a:t>
            </a:r>
          </a:p>
          <a:p/>
          <a:p>
            <a:r>
              <a:t>Entonces entrenamos dos familias de modelos. Una con estado, que responde 'qué promociono</a:t>
            </a:r>
          </a:p>
          <a:p>
            <a:r>
              <a:t>hoy'. Y otra sin estado, ni parseado ni escondido en el texto, que responde 'qué esperar de un</a:t>
            </a:r>
          </a:p>
          <a:p>
            <a:r>
              <a:t>producto nuevo'.</a:t>
            </a:r>
          </a:p>
          <a:p/>
          <a:p>
            <a:r>
              <a:t>*(señalando las tarjetas)* Y el resultado encuadra todo el trabajo. Con estado llegamos a</a:t>
            </a:r>
          </a:p>
          <a:p>
            <a:r>
              <a:t>ochenta y dos. Sin estado, nadie pasa de dieciséis. Ni el GBM, ni nada.</a:t>
            </a:r>
          </a:p>
          <a:p/>
          <a:p>
            <a:r>
              <a:t>Y eso no es un problema del modelo. Es un hallazgo sobre el dataset: el sesenta y un por ciento</a:t>
            </a:r>
          </a:p>
          <a:p>
            <a:r>
              <a:t>de las filas vive en tiers donde el BTR es cero exacto. Sin esa columna, no hay nada que</a:t>
            </a:r>
          </a:p>
          <a:p>
            <a:r>
              <a:t>aprender."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· Métricas y protocolo — [2.0 min]</a:t>
            </a:r>
          </a:p>
          <a:p/>
          <a:p>
            <a:r>
              <a:t>"Cómo medimos.</a:t>
            </a:r>
          </a:p>
          <a:p/>
          <a:p>
            <a:r>
              <a:t>Con trece por ciento de positivos, el accuracy no sirve. Un modelo que diga 'nadie compra nada'</a:t>
            </a:r>
          </a:p>
          <a:p>
            <a:r>
              <a:t>acierta el ochenta y siete por ciento y no encuentra un solo comprador.</a:t>
            </a:r>
          </a:p>
          <a:p/>
          <a:p>
            <a:r>
              <a:t>Así que la métrica principal es PR-AUC — precisión y recall — que es la que sugiere el</a:t>
            </a:r>
          </a:p>
          <a:p>
            <a:r>
              <a:t>enunciado. Mide qué tan bien el modelo ordena, sin tener que elegir ningún umbral. Y el</a:t>
            </a:r>
          </a:p>
          <a:p>
            <a:r>
              <a:t>piso no es cero coma cinco: es la tasa de compra, cero coma ciento treinta y uno. Contra eso</a:t>
            </a:r>
          </a:p>
          <a:p>
            <a:r>
              <a:t>comparamos siempre.</a:t>
            </a:r>
          </a:p>
          <a:p/>
          <a:p>
            <a:r>
              <a:t>Aparte reportamos ROC-AUC, y guardamos log-loss y Brier para ver la calidad de las</a:t>
            </a:r>
          </a:p>
          <a:p>
            <a:r>
              <a:t>probabilidades.</a:t>
            </a:r>
          </a:p>
          <a:p/>
          <a:p>
            <a:r>
              <a:t>Sin umbral, como dijimos. Aunque igual lo medimos: el F1 máximo cae en cero cuarenta, no en cero</a:t>
            </a:r>
          </a:p>
          <a:p>
            <a:r>
              <a:t>cinco. O sea que cualquier umbral fijo hubiera sido arbitrario.</a:t>
            </a:r>
          </a:p>
          <a:p/>
          <a:p>
            <a:r>
              <a:t>Guardamos dieciséis métricas por época en cada corrida. Eso nos deja ver overfitting y</a:t>
            </a:r>
          </a:p>
          <a:p>
            <a:r>
              <a:t>underfitting en las curvas de train y validación, para todas las corridas.</a:t>
            </a:r>
          </a:p>
          <a:p/>
          <a:p>
            <a:r>
              <a:t>*(pasando al panel de la derecha)* Y cómo particionamos.</a:t>
            </a:r>
          </a:p>
          <a:p/>
          <a:p>
            <a:r>
              <a:t>Por query_id, setenta quince quince. Una búsqueda entera cae del mismo lado. Si partiéramos</a:t>
            </a:r>
          </a:p>
          <a:p>
            <a:r>
              <a:t>fila por fila, productos de la misma página quedarían en train y en test, y estaríamos filtrando</a:t>
            </a:r>
          </a:p>
          <a:p>
            <a:r>
              <a:t>el contexto.</a:t>
            </a:r>
          </a:p>
          <a:p/>
          <a:p>
            <a:r>
              <a:t>¿Por qué no temporal? Timestamps rotos. ¿Por producto? Lo verificamos: el noventa y nueve por</a:t>
            </a:r>
          </a:p>
          <a:p>
            <a:r>
              <a:t>ciento de los títulos son únicos, y si restringimos test a productos nunca vistos las métricas</a:t>
            </a:r>
          </a:p>
          <a:p>
            <a:r>
              <a:t>son idénticas. El modelo no recibe identidad del producto, así que no tiene cómo memorizar.</a:t>
            </a:r>
          </a:p>
          <a:p/>
          <a:p>
            <a:r>
              <a:t>Sobre la varianza: seguimos lo que priorizó la cátedra, que es promediar corridas. Seis</a:t>
            </a:r>
          </a:p>
          <a:p>
            <a:r>
              <a:t>semillas por configuración. Y como cierre igual corrimos validación cruzada, cinco por seis:</a:t>
            </a:r>
          </a:p>
          <a:p>
            <a:r>
              <a:t>da cero ochocientos veintiuno con desvío cero cero doce. Consistente.</a:t>
            </a:r>
          </a:p>
          <a:p/>
          <a:p>
            <a:r>
              <a:t>Y una disciplina que mantuvimos todo el trabajo: los hiperparámetros se eligen mirando</a:t>
            </a:r>
          </a:p>
          <a:p>
            <a:r>
              <a:t>validación. Test se reporta al final, y nada más."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· Divisoria — El modelo — [5 s]</a:t>
            </a:r>
          </a:p>
          <a:p/>
          <a:p>
            <a:r>
              <a:t>"El modelo."</a:t>
            </a:r>
          </a:p>
          <a:p/>
          <a:p>
            <a:r>
              <a:t>→ en pantalla: pantalla oscura, número grande, «dónde va el transformer, y por qué ahí».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La arquitectura: dónde va el transformer y por qué — [2.5 min]</a:t>
            </a:r>
          </a:p>
          <a:p/>
          <a:p>
            <a:r>
              <a:t>"La pregunta del enunciado es dónde, cómo y por qué un transformer. Nuestra respuesta sale del</a:t>
            </a:r>
          </a:p>
          <a:p>
            <a:r>
              <a:t>EDA.</a:t>
            </a:r>
          </a:p>
          <a:p/>
          <a:p>
            <a:r>
              <a:t>La señal de este problema es relacional. El precio no importa por sí solo, importa en</a:t>
            </a:r>
          </a:p>
          <a:p>
            <a:r>
              <a:t>relación al rango que filtró el usuario. Y la U del precio está condicionada al tier del</a:t>
            </a:r>
          </a:p>
          <a:p>
            <a:r>
              <a:t>producto. O sea: lo que importa son los cruces entre features.</a:t>
            </a:r>
          </a:p>
          <a:p/>
          <a:p>
            <a:r>
              <a:t>Un modelo lineal necesita que le des esos cruces hechos a mano. La self-attention los computa</a:t>
            </a:r>
          </a:p>
          <a:p>
            <a:r>
              <a:t>sola, de a pares, y aprendidos. Es la generalización de las feature crosses.</a:t>
            </a:r>
          </a:p>
          <a:p/>
          <a:p>
            <a:r>
              <a:t>Por eso elegimos un FT-Transformer: cada feature es un token.</a:t>
            </a:r>
          </a:p>
          <a:p/>
          <a:p>
            <a:r>
              <a:t>Ahora, la pregunta natural: ¿cómo puede la atención comparar un precio con una marca? Y la</a:t>
            </a:r>
          </a:p>
          <a:p>
            <a:r>
              <a:t>respuesta es que no hace falta que los tokens sean del mismo tipo. Hace falta que vivan en el</a:t>
            </a:r>
          </a:p>
          <a:p>
            <a:r>
              <a:t>mismo espacio. Y eso es exactamente lo que hace el tokenizador: cada numérica entra como x</a:t>
            </a:r>
          </a:p>
          <a:p>
            <a:r>
              <a:t>por w más b, cada categórica con su codificación, y las dos salen como vectores del mismo</a:t>
            </a:r>
          </a:p>
          <a:p>
            <a:r>
              <a:t>tamaño. Es el mismo principio por el que en un modelo de lenguaje conviven la palabra 'perro',</a:t>
            </a:r>
          </a:p>
          <a:p>
            <a:r>
              <a:t>una coma y un número.</a:t>
            </a:r>
          </a:p>
          <a:p/>
          <a:p>
            <a:r>
              <a:t>*(recorriendo el diagrama)* De ahí para arriba es un encoder estándar. Usamos los mismos</a:t>
            </a:r>
          </a:p>
          <a:p>
            <a:r>
              <a:t>bloques de la demo de la cátedra: atención multi-cabeza, el MLP interno, bloques pre-LN con</a:t>
            </a:r>
          </a:p>
          <a:p>
            <a:r>
              <a:t>conexiones residuales.</a:t>
            </a:r>
          </a:p>
          <a:p/>
          <a:p>
            <a:r>
              <a:t>Con dos adaptaciones, y las dos justificadas.</a:t>
            </a:r>
          </a:p>
          <a:p/>
          <a:p>
            <a:r>
              <a:t>La primera: sacamos la máscara causal. Esto es clasificar un conjunto, no generar texto. No</a:t>
            </a:r>
          </a:p>
          <a:p>
            <a:r>
              <a:t>hay 'siguiente token' que adivinar. Atención bidireccional, como BERT.</a:t>
            </a:r>
          </a:p>
          <a:p/>
          <a:p>
            <a:r>
              <a:t>La segunda: el escalado por raíz de d_k se hace una vez, como en el paper. La demo lo</a:t>
            </a:r>
          </a:p>
          <a:p>
            <a:r>
              <a:t>aplicaba dos veces, y eso aplana la atención de más.</a:t>
            </a:r>
          </a:p>
          <a:p/>
          <a:p>
            <a:r>
              <a:t>Agregamos un token CLS de lectura. No aporta información: la recolecta. Como atiende a todo</a:t>
            </a:r>
          </a:p>
          <a:p>
            <a:r>
              <a:t>en cada capa, su estado final es el resumen que va al clasificador. Es lo que hace BERT.</a:t>
            </a:r>
          </a:p>
          <a:p/>
          <a:p>
            <a:r>
              <a:t>Y sin positional encoding. Un conjunto de features no tiene orden — el precio no está</a:t>
            </a:r>
          </a:p>
          <a:p>
            <a:r>
              <a:t>'antes' que la marca. La identidad de cada columna ya vive en sus propios parámetros. Eso no lo</a:t>
            </a:r>
          </a:p>
          <a:p>
            <a:r>
              <a:t>asumimos: lo medimos, y agregarlo da diferencia cero.</a:t>
            </a:r>
          </a:p>
          <a:p/>
          <a:p>
            <a:r>
              <a:t>El tamaño arranca donde sugiere el enunciado: d_model treinta y dos, cuatro cabezas, dos</a:t>
            </a:r>
          </a:p>
          <a:p>
            <a:r>
              <a:t>bloques."</a:t>
            </a:r>
          </a:p>
          <a:p/>
          <a:p>
            <a:r>
              <a:t>→ en pantalla: el diagrama completo, del CSV a p(bought).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Alternativas consideradas — y medidas — [1.2 min]</a:t>
            </a:r>
          </a:p>
          <a:p/>
          <a:p>
            <a:r>
              <a:t>"Antes de comprometernos con eso, evaluamos dónde más podía ir el transformer. Porque 'usá</a:t>
            </a:r>
          </a:p>
          <a:p>
            <a:r>
              <a:t>un transformer' no te dice dónde ponerlo.</a:t>
            </a:r>
          </a:p>
          <a:p/>
          <a:p>
            <a:r>
              <a:t>Tres alternativas serias.</a:t>
            </a:r>
          </a:p>
          <a:p/>
          <a:p>
            <a:r>
              <a:t>Una: el texto crudo como tokens. Los caracteres del título y la descripción, que es la demo</a:t>
            </a:r>
          </a:p>
          <a:p>
            <a:r>
              <a:t>literal. La señal está ahí, sin duda. Pero el EDA ya nos mostró que se extrae con una expresión</a:t>
            </a:r>
          </a:p>
          <a:p>
            <a:r>
              <a:t>regular — gastar atención cuadrática sobre doscientos cincuenta y siete tokens para eso es caro.</a:t>
            </a:r>
          </a:p>
          <a:p/>
          <a:p>
            <a:r>
              <a:t>Dos: los productos de la página como tokens. Eso modela la competencia dentro de la</a:t>
            </a:r>
          </a:p>
          <a:p>
            <a:r>
              <a:t>búsqueda. Pero el EDA midió competencia débil: en muchas páginas se compra más de un producto.</a:t>
            </a:r>
          </a:p>
          <a:p/>
          <a:p>
            <a:r>
              <a:t>Tres: el transformer solo como encoder de texto, y un MLP arriba que clasifica. El problema</a:t>
            </a:r>
          </a:p>
          <a:p>
            <a:r>
              <a:t>es que comprime toda la señal a un cuello de botella antes de decidir.</a:t>
            </a:r>
          </a:p>
          <a:p/>
          <a:p>
            <a:r>
              <a:t>Elegimos features-como-tokens de base. Pero no las descartamos en papel: implementamos y</a:t>
            </a:r>
          </a:p>
          <a:p>
            <a:r>
              <a:t>corrimos las tres, más dos variantes. Los resultados les dan la razón a los diagnósticos del</a:t>
            </a:r>
          </a:p>
          <a:p>
            <a:r>
              <a:t>EDA, y los vemos en la diapositiva veinte."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Baselines: la vara — [35 s]</a:t>
            </a:r>
          </a:p>
          <a:p/>
          <a:p>
            <a:r>
              <a:t>"Antes del transformer, armamos una escalera de complejidad. Mismo split, mismas métricas,</a:t>
            </a:r>
          </a:p>
          <a:p>
            <a:r>
              <a:t>mismas seis semillas.</a:t>
            </a:r>
          </a:p>
          <a:p/>
          <a:p>
            <a:r>
              <a:t>Regresión logística: cero seiscientos noventa y ocho. Esa es la vara lineal.</a:t>
            </a:r>
          </a:p>
          <a:p/>
          <a:p>
            <a:r>
              <a:t>Un MLP denso, con exactamente los mismos embeddings de entrada que el transformer: cero</a:t>
            </a:r>
          </a:p>
          <a:p>
            <a:r>
              <a:t>setecientos cuarenta y seis.</a:t>
            </a:r>
          </a:p>
          <a:p/>
          <a:p>
            <a:r>
              <a:t>Y un GBM, que es la vara no lineal fuerte — árboles con interacciones: cero setecientos</a:t>
            </a:r>
          </a:p>
          <a:p>
            <a:r>
              <a:t>sesenta y dos.</a:t>
            </a:r>
          </a:p>
          <a:p/>
          <a:p>
            <a:r>
              <a:t>Y nos pusimos una regla de honestidad: si el transformer no supera esto, la capa de atención</a:t>
            </a:r>
          </a:p>
          <a:p>
            <a:r>
              <a:t>no se justifica."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Divisoria — Los experimentos — [35 s]</a:t>
            </a:r>
          </a:p>
          <a:p/>
          <a:p>
            <a:r>
              <a:t>"Los experimentos. Siete preguntas, y ninguna la contestamos de memoria.</a:t>
            </a:r>
          </a:p>
          <a:p/>
          <a:p>
            <a:r>
              <a:t>Antes de arrancar, la base. *(señalando la lista)* Todo lo que viene mueve un solo eje y</a:t>
            </a:r>
          </a:p>
          <a:p>
            <a:r>
              <a:t>deja el resto quieto: el mismo tamaño de vector por feature, el mismo optimizador, el mismo</a:t>
            </a:r>
          </a:p>
          <a:p>
            <a:r>
              <a:t>batch, la misma paciencia. Y seis semillas en cada configuración.</a:t>
            </a:r>
          </a:p>
          <a:p/>
          <a:p>
            <a:r>
              <a:t>Así, cuando algo cambia, sabemos qué lo cambió.</a:t>
            </a:r>
          </a:p>
          <a:p/>
          <a:p>
            <a:r>
              <a:t>Esa lista de abajo la van a ver repetida al pie de cada experimento, con lo que varía marcado</a:t>
            </a:r>
          </a:p>
          <a:p>
            <a:r>
              <a:t>a la derecha."</a:t>
            </a:r>
          </a:p>
          <a:p/>
          <a:p>
            <a:r>
              <a:t>→ en pantalla: pantalla oscura, el 3 grande, y los diez hiperparámetros con su explicación en</a:t>
            </a:r>
          </a:p>
          <a:p>
            <a:r>
              <a:t>una línea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Experimento 1: ¿la atención aporta? — [1.3 min]</a:t>
            </a:r>
          </a:p>
          <a:p/>
          <a:p>
            <a:r>
              <a:t>"Esta es la comparación central.</a:t>
            </a:r>
          </a:p>
          <a:p/>
          <a:p>
            <a:r>
              <a:t>Transformer contra MLP, con la misma entrada. Los mismos feature-tokens. Lo único que</a:t>
            </a:r>
          </a:p>
          <a:p>
            <a:r>
              <a:t>cambia es qué los mezcla: atención o capas densas. Y apareado por semilla, así que comparamos</a:t>
            </a:r>
          </a:p>
          <a:p>
            <a:r>
              <a:t>corrida contra corrida.</a:t>
            </a:r>
          </a:p>
          <a:p/>
          <a:p>
            <a:r>
              <a:t>Resultado: más cero cero cuarenta y ocho, ganando en cinco de seis semillas. Y el MLP tenía</a:t>
            </a:r>
          </a:p>
          <a:p>
            <a:r>
              <a:t>cuatro veces y media más parámetros. Así que no es cuestión de tamaño.</a:t>
            </a:r>
          </a:p>
          <a:p/>
          <a:p>
            <a:r>
              <a:t>Pero le hicimos dos refinamientos, porque nos parecía una vara fácil.</a:t>
            </a:r>
          </a:p>
          <a:p/>
          <a:p>
            <a:r>
              <a:t>*(señalando la primera tarjeta)* Primero: al MLP le probamos one-hot crudo en vez de</a:t>
            </a:r>
          </a:p>
          <a:p>
            <a:r>
              <a:t>embeddings, y mejoró a cero setecientos noventa y siete. O sea, parte de su déficit era la</a:t>
            </a:r>
          </a:p>
          <a:p>
            <a:r>
              <a:t>entrada, no la arquitectura. Contra el mejor MLP posible, la ventaja del transformer baja a</a:t>
            </a:r>
          </a:p>
          <a:p>
            <a:r>
              <a:t>más cero cero veintisiete. Sigue ganando, pero con la vara más alta.</a:t>
            </a:r>
          </a:p>
          <a:p/>
          <a:p>
            <a:r>
              <a:t>*(segunda tarjeta)* Y segundo: nos preguntamos si la atención no estaría simplemente</a:t>
            </a:r>
          </a:p>
          <a:p>
            <a:r>
              <a:t>descubriendo el cruce precio por tier que ya sabíamos del EDA. Así que se lo dimos a mano a la</a:t>
            </a:r>
          </a:p>
          <a:p>
            <a:r>
              <a:t>logística. Mejora, pero eso explica solo el doce por ciento del gap. La atención aprende</a:t>
            </a:r>
          </a:p>
          <a:p>
            <a:r>
              <a:t>bastante más que esa única interacción."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Experimento 2: ¿cuántas cabezas? — [0.9 min]</a:t>
            </a:r>
          </a:p>
          <a:p/>
          <a:p>
            <a:r>
              <a:t>"Multi-head significa varias consultas en paralelo, cada una en su propio subespacio. La</a:t>
            </a:r>
          </a:p>
          <a:p>
            <a:r>
              <a:t>pregunta era si este problema las necesita, o si hay una sola señal dominante y con una alcanza.</a:t>
            </a:r>
          </a:p>
          <a:p/>
          <a:p>
            <a:r>
              <a:t>Y acá tuvimos una sorpresa metodológica.</a:t>
            </a:r>
          </a:p>
          <a:p/>
          <a:p>
            <a:r>
              <a:t>Con embeddings, una cabeza grande le gana a cuatro chicas: cero ochocientos dieciséis contra</a:t>
            </a:r>
          </a:p>
          <a:p>
            <a:r>
              <a:t>cero setecientos noventa y ocho. Una consulta rica vale más que cuatro pobres — que es</a:t>
            </a:r>
          </a:p>
          <a:p>
            <a:r>
              <a:t>coherente con el EDA, donde hay una señal que manda.</a:t>
            </a:r>
          </a:p>
          <a:p/>
          <a:p>
            <a:r>
              <a:t>Pero sobre la base ordinal, que es la que terminó ganando, cuatro cabezas ganan: cero</a:t>
            </a:r>
          </a:p>
          <a:p>
            <a:r>
              <a:t>ochocientos veinticuatro contra cero ochocientos.</a:t>
            </a:r>
          </a:p>
          <a:p/>
          <a:p>
            <a:r>
              <a:t>O sea: el eje interactúa con la codificación. Y de ahí sacamos una regla para todo el</a:t>
            </a:r>
          </a:p>
          <a:p>
            <a:r>
              <a:t>trabajo: ninguna decisión se hereda de otra base. Cada una se vuelve a decidir por validación</a:t>
            </a:r>
          </a:p>
          <a:p>
            <a:r>
              <a:t>sobre la base final."</a:t>
            </a:r>
          </a:p>
          <a:p/>
          <a:p>
            <a:r>
              <a:t>→ en pantalla: el 4 en verde grande arriba a la derecha, el gráfico a la izquierda, y al</a:t>
            </a:r>
          </a:p>
          <a:p>
            <a:r>
              <a:t>pie la base con «varía · cabezas 1 / 2 / 4» en la pastilla lila.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· Experimento 3: ¿cuánta profundidad? — [35 s]</a:t>
            </a:r>
          </a:p>
          <a:p/>
          <a:p>
            <a:r>
              <a:t>"Más bloques es componer atención sobre atención. Pero con trece features que ya se ven todas</a:t>
            </a:r>
          </a:p>
          <a:p>
            <a:r>
              <a:t>de un salto, la hipótesis era que no hace falta mucha profundidad.</a:t>
            </a:r>
          </a:p>
          <a:p/>
          <a:p>
            <a:r>
              <a:t>Confirmado. Un bloque pierde poco. Dos ganan. Cuatro no suman nada, con el doble de</a:t>
            </a:r>
          </a:p>
          <a:p>
            <a:r>
              <a:t>parámetros.</a:t>
            </a:r>
          </a:p>
          <a:p/>
          <a:p>
            <a:r>
              <a:t>Y esto se conecta con la interpretabilidad, que vemos al final: el CLS ya concentra el setenta y</a:t>
            </a:r>
          </a:p>
          <a:p>
            <a:r>
              <a:t>cinco por ciento de su atención en el estado en la primera capa. No necesita más capas para</a:t>
            </a:r>
          </a:p>
          <a:p>
            <a:r>
              <a:t>encontrar lo que importa."</a:t>
            </a:r>
          </a:p>
          <a:p/>
          <a:p>
            <a:r>
              <a:t>→ en pantalla: el 2 en verde, y al pie «varía · bloques 1 / 2 / 4».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· Experimento 4: ¿qué d_model? — [0.8 min]</a:t>
            </a:r>
          </a:p>
          <a:p/>
          <a:p>
            <a:r>
              <a:t>"Acá la idea era dimensionar el embedding al problema — trece features, diez mil filas — y no</a:t>
            </a:r>
          </a:p>
          <a:p>
            <a:r>
              <a:t>al hábito de los papers, que usan quinientos doce.</a:t>
            </a:r>
          </a:p>
          <a:p/>
          <a:p>
            <a:r>
              <a:t>Lo que encontramos es una meseta amplia. De ocho a sesenta y cuatro, los resultados son</a:t>
            </a:r>
          </a:p>
          <a:p>
            <a:r>
              <a:t>parecidos. La señal cabe en poquísimos parámetros. Treinta y dos se elige por validación, pero</a:t>
            </a:r>
          </a:p>
          <a:p>
            <a:r>
              <a:t>sin mucho margen.</a:t>
            </a:r>
          </a:p>
          <a:p/>
          <a:p>
            <a:r>
              <a:t>Y hay un epílogo fuerte. Un modelo de dieciséis dimensiones con un solo bloque —tres mil</a:t>
            </a:r>
          </a:p>
          <a:p>
            <a:r>
              <a:t>setecientos parámetros— empata al campeón. Y destilando de un ensamble, el nivel campeón</a:t>
            </a:r>
          </a:p>
          <a:p>
            <a:r>
              <a:t>aguanta hasta mil novecientos.</a:t>
            </a:r>
          </a:p>
          <a:p/>
          <a:p>
            <a:r>
              <a:t>Cerrando los tres ejes de capacidad: cabezas, profundidad y dimensión. Ninguno movió mucho la</a:t>
            </a:r>
          </a:p>
          <a:p>
            <a:r>
              <a:t>aguja. El experimento decisivo no era la capacidad. Era la codificación de la entrada."</a:t>
            </a:r>
          </a:p>
          <a:p/>
          <a:p>
            <a:r>
              <a:t>→ en pantalla: el 32 en verde, y al pie «varía · d_model 8 / 16 / 32 / 64».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· Experimento 5: la codificación de las categóricas — [2.2 min]</a:t>
            </a:r>
          </a:p>
          <a:p/>
          <a:p>
            <a:r>
              <a:t>"Y este es el experimento decisivo del trabajo.</a:t>
            </a:r>
          </a:p>
          <a:p/>
          <a:p>
            <a:r>
              <a:t>El enunciado sugería investigar codificaciones, one-hot y alternativas. Implementamos y corrimos</a:t>
            </a:r>
          </a:p>
          <a:p>
            <a:r>
              <a:t>cinco, con todo lo demás fijo.</a:t>
            </a:r>
          </a:p>
          <a:p/>
          <a:p>
            <a:r>
              <a:t>Antes que nada, un resultado teórico que nos ahorró un experimento: one-hot seguido de una</a:t>
            </a:r>
          </a:p>
          <a:p>
            <a:r>
              <a:t>capa lineal aprende exactamente la misma matriz que un embedding. Multiplicar un vector</a:t>
            </a:r>
          </a:p>
          <a:p>
            <a:r>
              <a:t>one-hot por una matriz te devuelve una fila de esa matriz, que es lo que hace el lookup del</a:t>
            </a:r>
          </a:p>
          <a:p>
            <a:r>
              <a:t>embedding. Son el mismo modelo. Así que one-hot solo lo probamos como entrada cruda al MLP.</a:t>
            </a:r>
          </a:p>
          <a:p/>
          <a:p>
            <a:r>
              <a:t>Las que sí probamos: embedding aprendido por columna, que es el estándar. Target</a:t>
            </a:r>
          </a:p>
          <a:p>
            <a:r>
              <a:t>encoding, cada nivel a su BTR promedio suavizado de train. Ordinal, cada nivel a su</a:t>
            </a:r>
          </a:p>
          <a:p>
            <a:r>
              <a:t>rango al ordenar por ese BTR. Frecuencia y hashing.</a:t>
            </a:r>
          </a:p>
          <a:p/>
          <a:p>
            <a:r>
              <a:t>*(señalando el gráfico)* Y acá está la sorpresa: gana el ordinal, cero ochocientos</a:t>
            </a:r>
          </a:p>
          <a:p>
            <a:r>
              <a:t>veinticuatro. Por encima del target, cero ochocientos trece, y bastante por encima del embedding,</a:t>
            </a:r>
          </a:p>
          <a:p>
            <a:r>
              <a:t>cero setecientos noventa y ocho.</a:t>
            </a:r>
          </a:p>
          <a:p/>
          <a:p>
            <a:r>
              <a:t>¿Por qué gana, si el embedding puede aprender cualquier cosa? Justamente por eso. Con diez mil</a:t>
            </a:r>
          </a:p>
          <a:p>
            <a:r>
              <a:t>filas, 'poder aprender cualquier cosa' es sobreajustar. Una marca que aparece doce veces no</a:t>
            </a:r>
          </a:p>
          <a:p>
            <a:r>
              <a:t>alcanza para aprenderle treinta y dos números. El rango le inyecta el orden como prior, con</a:t>
            </a:r>
          </a:p>
          <a:p>
            <a:r>
              <a:t>un solo escalar por nivel.</a:t>
            </a:r>
          </a:p>
          <a:p/>
          <a:p>
            <a:r>
              <a:t>Y le gana al target porque los rangos quedan equiespaciados, mientras que las magnitudes están</a:t>
            </a:r>
          </a:p>
          <a:p>
            <a:r>
              <a:t>apelmazadas: cero sesenta y cinco, cero cero tres, cero exacto. Los rangos están mejor</a:t>
            </a:r>
          </a:p>
          <a:p>
            <a:r>
              <a:t>condicionados.</a:t>
            </a:r>
          </a:p>
          <a:p/>
          <a:p>
            <a:r>
              <a:t>Los dos que fallan calibran la regla. Frecuencia da cero veintidós — codifica qué tan común</a:t>
            </a:r>
          </a:p>
          <a:p>
            <a:r>
              <a:t>es un nivel, y eso no tiene nada que ver con comprarlo. Hashing da cero cincuenta — las</a:t>
            </a:r>
          </a:p>
          <a:p>
            <a:r>
              <a:t>colisiones mezclan tiers distintos. La regla que sacamos es: la codificación tiene que</a:t>
            </a:r>
          </a:p>
          <a:p>
            <a:r>
              <a:t>preservar la relación nivel-propensión.</a:t>
            </a:r>
          </a:p>
          <a:p/>
          <a:p>
            <a:r>
              <a:t>Y una reflexión honesta: nuestra hipótesis previa era exactamente la inversa. Pensábamos que el</a:t>
            </a:r>
          </a:p>
          <a:p>
            <a:r>
              <a:t>embedding iba a ganar. Los datos nos corrigieron, y esa corrección terminó siendo el mejor</a:t>
            </a:r>
          </a:p>
          <a:p>
            <a:r>
              <a:t>modelo del trabajo."</a:t>
            </a:r>
          </a:p>
          <a:p/>
          <a:p>
            <a:r>
              <a:t>→ en pantalla: el gráfico ocupa toda la pantalla y la única frase escrita es «nuestra hipótesis</a:t>
            </a:r>
          </a:p>
          <a:p>
            <a:r>
              <a:t>era la inversa». Esta diapositiva no tiene texto de apoyo: todo el argumento lo lleva la voz.</a:t>
            </a:r>
          </a:p>
          <a:p>
            <a:r>
              <a:t>Es la más importante del mazo — no la apures.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· Experimento 6: ¿arrancar de pesos informados? — [0.8 min]</a:t>
            </a:r>
          </a:p>
          <a:p/>
          <a:p>
            <a:r>
              <a:t>"Este es el pre-entrenamiento de la clase tres, en miniatura. La pregunta: ¿un arranque</a:t>
            </a:r>
          </a:p>
          <a:p>
            <a:r>
              <a:t>informado le gana a uno aleatorio?</a:t>
            </a:r>
          </a:p>
          <a:p/>
          <a:p>
            <a:r>
              <a:t>Probamos tres formas, todas con modelos propios.</a:t>
            </a:r>
          </a:p>
          <a:p/>
          <a:p>
            <a:r>
              <a:t>MLM estilo BERT sobre los feature-tokens: veinte épocas enmascarando features, sin usar</a:t>
            </a:r>
          </a:p>
          <a:p>
            <a:r>
              <a:t>etiquetas. Sobre embeddings suma un poco. Sobre ordinal, nada — el prior ordinal ya hace ese</a:t>
            </a:r>
          </a:p>
          <a:p>
            <a:r>
              <a:t>trabajo de regularización.</a:t>
            </a:r>
          </a:p>
          <a:p/>
          <a:p>
            <a:r>
              <a:t>w2v-init, un skipgram propio, regulariza la variante de palabras pero no alcanza a la de</a:t>
            </a:r>
          </a:p>
          <a:p>
            <a:r>
              <a:t>caracteres. Y el autoencoder repite el mismo patrón.</a:t>
            </a:r>
          </a:p>
          <a:p/>
          <a:p>
            <a:r>
              <a:t>Decisión: inicialización aleatoria.</a:t>
            </a:r>
          </a:p>
          <a:p/>
          <a:p>
            <a:r>
              <a:t>Y si preguntan por transfer desde un preentrenado de verdad: lo probamos con MiniLM, está</a:t>
            </a:r>
          </a:p>
          <a:p>
            <a:r>
              <a:t>en el apéndice. Congelado resta. Fine-tuneado repara. Y aun así nada supera nuestro cero</a:t>
            </a:r>
          </a:p>
          <a:p>
            <a:r>
              <a:t>ochocientos veinticuatro, con veintidós millones de parámetros contra veintiséis mil."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· Experimento 7: ¿y el texto? — [1.4 min]</a:t>
            </a:r>
          </a:p>
          <a:p/>
          <a:p>
            <a:r>
              <a:t>"La señal nace en el texto. Entonces la pregunta obvia: ¿el transformer puede leerla solo, sin</a:t>
            </a:r>
          </a:p>
          <a:p>
            <a:r>
              <a:t>nuestra expresión regular?</a:t>
            </a:r>
          </a:p>
          <a:p/>
          <a:p>
            <a:r>
              <a:t>Corrimos el arco completo.</a:t>
            </a:r>
          </a:p>
          <a:p/>
          <a:p>
            <a:r>
              <a:t>Texto puro, caracteres como tokens — la demo adaptada de decoder a encoder: cero seiscientos</a:t>
            </a:r>
          </a:p>
          <a:p>
            <a:r>
              <a:t>cincuenta y dos. Muy por encima del techo sin señal, que era dieciséis. O sea que encontró el</a:t>
            </a:r>
          </a:p>
          <a:p>
            <a:r>
              <a:t>sufijo solo. Pero muy por debajo del tabular: leer caracteres con treinta y seis mil</a:t>
            </a:r>
          </a:p>
          <a:p>
            <a:r>
              <a:t>parámetros cuesta caro.</a:t>
            </a:r>
          </a:p>
          <a:p/>
          <a:p>
            <a:r>
              <a:t>Híbrido, features y doscientos cincuenta y seis caracteres en una sola secuencia: cero</a:t>
            </a:r>
          </a:p>
          <a:p>
            <a:r>
              <a:t>setecientos cinco. Peor que el tabular solo. Los tokens de texto diluyen la atención sobre</a:t>
            </a:r>
          </a:p>
          <a:p>
            <a:r>
              <a:t>los trece que importan.</a:t>
            </a:r>
          </a:p>
          <a:p/>
          <a:p>
            <a:r>
              <a:t>Pero acá hay un dato fino, y es lindo. Al híbrido, sacarle el token parseado no le cuesta nada.</a:t>
            </a:r>
          </a:p>
          <a:p>
            <a:r>
              <a:t>O sea que reconstruye desde los caracteres crudos lo que nosotros extraíamos con la regex.</a:t>
            </a:r>
          </a:p>
          <a:p/>
          <a:p>
            <a:r>
              <a:t>Y la fusión —comprimir el texto a un solo token que entra a la secuencia tabular— cura la</a:t>
            </a:r>
          </a:p>
          <a:p>
            <a:r>
              <a:t>dilución por completo. Pero empata exacto con la torre. Conclusión: una vez que comprimís,</a:t>
            </a:r>
          </a:p>
          <a:p>
            <a:r>
              <a:t>cruzar por atención o por concatenación da igual. Lo que importa es comprimir.</a:t>
            </a:r>
          </a:p>
          <a:p/>
          <a:p>
            <a:r>
              <a:t>La conclusión de diseño: el texto crudo es recuperable, pero redundante cuando el EDA ya</a:t>
            </a:r>
          </a:p>
          <a:p>
            <a:r>
              <a:t>parseó la señal."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· Desafíos encontrados — [1.8 min]</a:t>
            </a:r>
          </a:p>
          <a:p/>
          <a:p>
            <a:r>
              <a:t>"Cuatro cosas que nos pasaron y vale la pena contar.</a:t>
            </a:r>
          </a:p>
          <a:p/>
          <a:p>
            <a:r>
              <a:t>*(panel uno)* El causal degenerado. Hicimos la ablación de 'qué pasa si dejamos la máscara</a:t>
            </a:r>
          </a:p>
          <a:p>
            <a:r>
              <a:t>causal', y dio ROC exactamente cero coma cinco. Exactamente. Eso no es 'causal anda peor', eso</a:t>
            </a:r>
          </a:p>
          <a:p>
            <a:r>
              <a:t>es que algo está roto.</a:t>
            </a:r>
          </a:p>
          <a:p/>
          <a:p>
            <a:r>
              <a:t>Y el diagnóstico fue este: con máscara causal, nuestro CLS está en la posición cero, así que</a:t>
            </a:r>
          </a:p>
          <a:p>
            <a:r>
              <a:t>solo puede verse a sí mismo. No ve ninguna feature. El modelo predecía una constante — la misma</a:t>
            </a:r>
          </a:p>
          <a:p>
            <a:r>
              <a:t>probabilidad para todo el test.</a:t>
            </a:r>
          </a:p>
          <a:p/>
          <a:p>
            <a:r>
              <a:t>El arreglo es ponerlo al final, que es desde donde lee GPT. Y con eso la respuesta real aparece:</a:t>
            </a:r>
          </a:p>
          <a:p>
            <a:r>
              <a:t>la bidireccionalidad acá da igual. La lección que nos llevamos: los decoders leen desde el</a:t>
            </a:r>
          </a:p>
          <a:p>
            <a:r>
              <a:t>último token, los encoders pueden poner el CLS adelante — pero las dos cosas tienen que ser</a:t>
            </a:r>
          </a:p>
          <a:p>
            <a:r>
              <a:t>coherentes.</a:t>
            </a:r>
          </a:p>
          <a:p/>
          <a:p>
            <a:r>
              <a:t>*(panel dos)* Las trampas del dataset: cart y los timestamps rotos. El EDA los cazó antes</a:t>
            </a:r>
          </a:p>
          <a:p>
            <a:r>
              <a:t>de que mordieran.</a:t>
            </a:r>
          </a:p>
          <a:p/>
          <a:p>
            <a:r>
              <a:t>*(panel tres)* El cómputo. La familia de texto es inviable en CPU, por la atención</a:t>
            </a:r>
          </a:p>
          <a:p>
            <a:r>
              <a:t>cuadrática sobre doscientos cincuenta y siete tokens. Armamos una suite de experimentos</a:t>
            </a:r>
          </a:p>
          <a:p>
            <a:r>
              <a:t>resumible que corre en una GPU de consumo, y deja cada corrida registrada con sus dieciséis</a:t>
            </a:r>
          </a:p>
          <a:p>
            <a:r>
              <a:t>métricas. Ochocientas treinta y ocho corridas en total.</a:t>
            </a:r>
          </a:p>
          <a:p/>
          <a:p>
            <a:r>
              <a:t>*(panel cuatro)* Y hipótesis que refutamos con datos. Las contamos porque el método importa:</a:t>
            </a:r>
          </a:p>
          <a:p>
            <a:r>
              <a:t>bins por cuantiles para la U del precio — el MLP interno ya la captura. Pesos por clase para el</a:t>
            </a:r>
          </a:p>
          <a:p>
            <a:r>
              <a:t>desbalance — daña, porque PR-AUC es de ranking. Mean pooling en vez de CLS — el CLS gana seis de</a:t>
            </a:r>
          </a:p>
          <a:p>
            <a:r>
              <a:t>seis. Y positional encoding en features — diferencia cero, como predice la teoría."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· Divisoria — Resultados — [5 s]</a:t>
            </a:r>
          </a:p>
          <a:p/>
          <a:p>
            <a:r>
              <a:t>"Resultados."</a:t>
            </a:r>
          </a:p>
          <a:p/>
          <a:p>
            <a:r>
              <a:t>→ en pantalla: pantalla oscura, número grande, «qué quedó en pie y qué aprendimos».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· El modelo final — [1.3 min]</a:t>
            </a:r>
          </a:p>
          <a:p/>
          <a:p>
            <a:r>
              <a:t>"El modelo final: un FT-Transformer con codificación ordinal.</a:t>
            </a:r>
          </a:p>
          <a:p/>
          <a:p>
            <a:r>
              <a:t>Trece feature-tokens más el CLS. Dimensión treinta y dos, cuatro cabezas, dos bloques pre-LN,</a:t>
            </a:r>
          </a:p>
          <a:p>
            <a:r>
              <a:t>sin positional. Una capa lineal de treinta y dos a uno, y sigmoide. Veintiséis mil ciento</a:t>
            </a:r>
          </a:p>
          <a:p>
            <a:r>
              <a:t>setenta y siete parámetros — el más chico de los cinco mejores.</a:t>
            </a:r>
          </a:p>
          <a:p/>
          <a:p>
            <a:r>
              <a:t>Entrenamiento: AdamW, batch doscientos cincuenta y seis, early stopping por PR-AUC de validación</a:t>
            </a:r>
          </a:p>
          <a:p>
            <a:r>
              <a:t>con paciencia veinte. Corta cerca de la época sesenta y cuatro.</a:t>
            </a:r>
          </a:p>
          <a:p/>
          <a:p>
            <a:r>
              <a:t>Cómo lo elegimos, y esto nos importa. En validación había un empate técnico entre cuatro</a:t>
            </a:r>
          </a:p>
          <a:p>
            <a:r>
              <a:t>configuraciones, con diferencias menores a dos milésimas. Validación no puede distinguirlas. Así</a:t>
            </a:r>
          </a:p>
          <a:p>
            <a:r>
              <a:t>que desempatamos por parsimonia: menos parámetros, menor desvío entre semillas, y menor gap</a:t>
            </a:r>
          </a:p>
          <a:p>
            <a:r>
              <a:t>entre validación y test. Recién después miramos test, que confirma la elección.</a:t>
            </a:r>
          </a:p>
          <a:p/>
          <a:p>
            <a:r>
              <a:t>*(señalando los números)* PR-AUC en test: cero ochocientos veinticuatro, con desvío cero cero</a:t>
            </a:r>
          </a:p>
          <a:p>
            <a:r>
              <a:t>dieciocho, sobre seis semillas. Validación cruzada cinco por seis: cero ochocientos veintiuno.</a:t>
            </a:r>
          </a:p>
          <a:p>
            <a:r>
              <a:t>Con ensamble, cero ochocientos treinta y cuatro — y llegamos ahí por dos rutas independientes,</a:t>
            </a:r>
          </a:p>
          <a:p>
            <a:r>
              <a:t>ensamblando configuraciones o ensamblando inicializaciones.</a:t>
            </a:r>
          </a:p>
          <a:p/>
          <a:p>
            <a:r>
              <a:t>Contra las varas: GBM cero setecientos sesenta y dos, mejor MLP cero setecientos noventa y</a:t>
            </a:r>
          </a:p>
          <a:p>
            <a:r>
              <a:t>siete."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· Robustez — [1.0 min]</a:t>
            </a:r>
          </a:p>
          <a:p/>
          <a:p>
            <a:r>
              <a:t>"Tres verificaciones sobre el modelo final.</a:t>
            </a:r>
          </a:p>
          <a:p/>
          <a:p>
            <a:r>
              <a:t>*(señalando la curva)* Curva de aprendizaje. Entrenamos con el veinticinco, cincuenta,</a:t>
            </a:r>
          </a:p>
          <a:p>
            <a:r>
              <a:t>setenta y cinco y cien por ciento de los datos. La curva está casi saturada: el último cuarto</a:t>
            </a:r>
          </a:p>
          <a:p>
            <a:r>
              <a:t>aporta siete milésimas. Y con el setenta y cinco por ciento de los datos ya le ganamos al GBM</a:t>
            </a:r>
          </a:p>
          <a:p>
            <a:r>
              <a:t>entrenado con todo.</a:t>
            </a:r>
          </a:p>
          <a:p/>
          <a:p>
            <a:r>
              <a:t>Varianza. Hicimos una grilla de cinco inicializaciones por seis splits, para separar de</a:t>
            </a:r>
          </a:p>
          <a:p>
            <a:r>
              <a:t>dónde viene el desvío. Y es mitad lotería del split, mitad inicialización. Eso valida el</a:t>
            </a:r>
          </a:p>
          <a:p>
            <a:r>
              <a:t>protocolo de promediar semillas. Y esa mitad de inicialización es justo lo que el ensamble</a:t>
            </a:r>
          </a:p>
          <a:p>
            <a:r>
              <a:t>elimina.</a:t>
            </a:r>
          </a:p>
          <a:p/>
          <a:p>
            <a:r>
              <a:t>Calibración. ECE de cero coma cero uno, temperatura cerca de uno. Y esto importa por lo que</a:t>
            </a:r>
          </a:p>
          <a:p>
            <a:r>
              <a:t>dijimos al principio: el BTR de negocio es el promedio de las probabilidades. Si el modelo</a:t>
            </a:r>
          </a:p>
          <a:p>
            <a:r>
              <a:t>no estuviera calibrado, ese promedio no significaría nada. Está calibrado, así que se puede leer</a:t>
            </a:r>
          </a:p>
          <a:p>
            <a:r>
              <a:t>directo, sin corrección."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· Overfitting y underfitting — [40 s]</a:t>
            </a:r>
          </a:p>
          <a:p/>
          <a:p>
            <a:r>
              <a:t>"El enunciado pide mirar overfitting y underfitting, así que acá están las curvas del modelo</a:t>
            </a:r>
          </a:p>
          <a:p>
            <a:r>
              <a:t>final.</a:t>
            </a:r>
          </a:p>
          <a:p/>
          <a:p>
            <a:r>
              <a:t>*(señalando el gráfico)* Train sube sostenido. Validación sube, se aplana, y ahí el early</a:t>
            </a:r>
          </a:p>
          <a:p>
            <a:r>
              <a:t>stopping corta — la línea punteada — y restaura ese checkpoint. Nunca entrenamos de más.</a:t>
            </a:r>
          </a:p>
          <a:p/>
          <a:p>
            <a:r>
              <a:t>El gap entre train y validación es moderado y estable. No se abre. Eso descarta overfitting</a:t>
            </a:r>
          </a:p>
          <a:p>
            <a:r>
              <a:t>descontrolado. Y como las dos suben bien al principio, tampoco hay underfitting.</a:t>
            </a:r>
          </a:p>
          <a:p/>
          <a:p>
            <a:r>
              <a:t>El dato que lo cierra: del valor de validación al de test hay once milésimas de diferencia.</a:t>
            </a:r>
          </a:p>
          <a:p>
            <a:r>
              <a:t>Es el gap más chico de las cuatro configuraciones finalistas. O sea que la elección por</a:t>
            </a:r>
          </a:p>
          <a:p>
            <a:r>
              <a:t>validación no nos engañó.</a:t>
            </a:r>
          </a:p>
          <a:p/>
          <a:p>
            <a:r>
              <a:t>Estas curvas las tenemos para las ochocientas treinta y ocho corridas, no solo para esta."</a:t>
            </a:r>
          </a:p>
          <a:p/>
          <a:p>
            <a:r>
              <a:t>→ en pantalla: la curva de train y validación con la vertical punteada del early stopping.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· ¿El modelo mira donde debe? — [1.3 min]</a:t>
            </a:r>
          </a:p>
          <a:p/>
          <a:p>
            <a:r>
              <a:t>"Con catorce tokens, la matriz de atención se puede mirar directamente. No hace falta</a:t>
            </a:r>
          </a:p>
          <a:p>
            <a:r>
              <a:t>ninguna técnica sofisticada.</a:t>
            </a:r>
          </a:p>
          <a:p/>
          <a:p>
            <a:r>
              <a:t>*(señalando el mapa)* En la primera capa, el CLS pone el setenta y cinco por ciento de su</a:t>
            </a:r>
          </a:p>
          <a:p>
            <a:r>
              <a:t>atención en el token de estado. Y la familia del precio se consulta entre sí: el precio y el</a:t>
            </a:r>
          </a:p>
          <a:p>
            <a:r>
              <a:t>mínimo del filtro atienden a price_rel. Esa es la señal relacional, literal en el mapa. La</a:t>
            </a:r>
          </a:p>
          <a:p>
            <a:r>
              <a:t>segunda capa ya mezcla todo.</a:t>
            </a:r>
          </a:p>
          <a:p/>
          <a:p>
            <a:r>
              <a:t>Ahora, hay una crítica conocida a esto — 'attention is not explanation'. La atención te muestra</a:t>
            </a:r>
          </a:p>
          <a:p>
            <a:r>
              <a:t>dónde mira el modelo, no necesariamente qué usa. Así que lo contrastamos con un diagnóstico</a:t>
            </a:r>
          </a:p>
          <a:p>
            <a:r>
              <a:t>independiente, basado en resultados.</a:t>
            </a:r>
          </a:p>
          <a:p/>
          <a:p>
            <a:r>
              <a:t>*(segundo gráfico)* Importancia por permutación: rompemos una feature y medimos cuánto se</a:t>
            </a:r>
          </a:p>
          <a:p>
            <a:r>
              <a:t>cae el modelo. Destruir listing_status cuesta sesenta y ocho centésimas de PR-AUC. price_rel</a:t>
            </a:r>
          </a:p>
          <a:p>
            <a:r>
              <a:t>cuesta catorce. Alergenos, cinco. El resto, cero.</a:t>
            </a:r>
          </a:p>
          <a:p/>
          <a:p>
            <a:r>
              <a:t>Dos métodos independientes, la misma historia. Y es exactamente la del EDA. El círculo cierra.</a:t>
            </a:r>
          </a:p>
          <a:p/>
          <a:p>
            <a:r>
              <a:t>Y la traducción a negocio: en las páginas de test donde hubo al menos una compra, el producto</a:t>
            </a:r>
          </a:p>
          <a:p>
            <a:r>
              <a:t>que nuestro modelo pone primero fue efectivamente el comprado el noventa y uno por ciento de</a:t>
            </a:r>
          </a:p>
          <a:p>
            <a:r>
              <a:t>las veces. El azar da veintisiete."</a:t>
            </a:r>
          </a:p>
          <a:p/>
          <a:p>
            <a:r>
              <a:t>→ en pantalla: a la izquierda el mapa de atención a lo alto; a la derecha el gráfico de</a:t>
            </a:r>
          </a:p>
          <a:p>
            <a:r>
              <a:t>permutación y, debajo, los tres recuadros — atención, permutación, negocio. Señalá el mapa,</a:t>
            </a:r>
          </a:p>
          <a:p>
            <a:r>
              <a:t>después el gráfico, y cerrá con el recuadro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· Ejercicio 3: personalización — [1.6 min]</a:t>
            </a:r>
          </a:p>
          <a:p/>
          <a:p>
            <a:r>
              <a:t>"El ejercicio teórico: cómo haríamos que el BTR dependa de quién busca.</a:t>
            </a:r>
          </a:p>
          <a:p/>
          <a:p>
            <a:r>
              <a:t>Hoy nuestro modelo estima la probabilidad dado el producto y la búsqueda. Personalizar es</a:t>
            </a:r>
          </a:p>
          <a:p>
            <a:r>
              <a:t>condicionar también al usuario.</a:t>
            </a:r>
          </a:p>
          <a:p/>
          <a:p>
            <a:r>
              <a:t>Lo primero es que hace falta dato nuevo: un identificador de usuario y su historial de</a:t>
            </a:r>
          </a:p>
          <a:p>
            <a:r>
              <a:t>eventos. El dataset actual no lo trae.</a:t>
            </a:r>
          </a:p>
          <a:p/>
          <a:p>
            <a:r>
              <a:t>*(panel izquierdo)* Y la extensión natural de nuestra arquitectura es directa. Así como</a:t>
            </a:r>
          </a:p>
          <a:p>
            <a:r>
              <a:t>evaluamos meter el texto como tokens, acá el historial del usuario entra como tokens: sus</a:t>
            </a:r>
          </a:p>
          <a:p>
            <a:r>
              <a:t>últimas compras y búsquedas, cada una codificada con el mismo tokenizador de productos. Y la</a:t>
            </a:r>
          </a:p>
          <a:p>
            <a:r>
              <a:t>secuencia los atiende.</a:t>
            </a:r>
          </a:p>
          <a:p/>
          <a:p>
            <a:r>
              <a:t>El ejemplo concreto: alguien que compra comida de perro todos los meses tiene esos productos en</a:t>
            </a:r>
          </a:p>
          <a:p>
            <a:r>
              <a:t>su historial. Cuando aparecen en la página, la atención cruza historial contra candidato y le</a:t>
            </a:r>
          </a:p>
          <a:p>
            <a:r>
              <a:t>sube la probabilidad. Esto en producción existe y se llama BST o SASRec — es exactamente esto.</a:t>
            </a:r>
          </a:p>
          <a:p/>
          <a:p>
            <a:r>
              <a:t>*(panel derecho arriba)* La alternativa clásica, que conecta con la clase dos: embeddings de</a:t>
            </a:r>
          </a:p>
          <a:p>
            <a:r>
              <a:t>usuario y producto entrenados con negative sampling. Item2vec o two-tower — un skipgram donde</a:t>
            </a:r>
          </a:p>
          <a:p>
            <a:r>
              <a:t>el contexto son los productos con los que el usuario interactuó. Eso sirve como retrieval si</a:t>
            </a:r>
          </a:p>
          <a:p>
            <a:r>
              <a:t>el catálogo fuera enorme, con nuestro modelo de ranker arriba.</a:t>
            </a:r>
          </a:p>
          <a:p/>
          <a:p>
            <a:r>
              <a:t>*(panel derecho abajo)* Y el detalle que este trabajo nos dejó bien aprendido: el usuario nuevo</a:t>
            </a:r>
          </a:p>
          <a:p>
            <a:r>
              <a:t>sin historial es exactamente el mismo problema que el producto nuevo sin badge. Cold-start. Y el</a:t>
            </a:r>
          </a:p>
          <a:p>
            <a:r>
              <a:t>fallback es justo el modelo que ya tenemos, que no depende del usuario."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· Conclusiones — [1.5 min]</a:t>
            </a:r>
          </a:p>
          <a:p/>
          <a:p>
            <a:r>
              <a:t>"Cinco conclusiones.</a:t>
            </a:r>
          </a:p>
          <a:p/>
          <a:p>
            <a:r>
              <a:t>Una: el EDA mandó. La señal dominante no era ninguna columna del CSV. Estaba escondida en</a:t>
            </a:r>
          </a:p>
          <a:p>
            <a:r>
              <a:t>el sufijo del título, entre paréntesis. La sacamos con una expresión regular y partió el dataset</a:t>
            </a:r>
          </a:p>
          <a:p>
            <a:r>
              <a:t>en tres grupos limpios. Todo lo que hicimos después sale de haberla encontrado.</a:t>
            </a:r>
          </a:p>
          <a:p/>
          <a:p>
            <a:r>
              <a:t>Dos: la formulación valió más que el tamaño. El modelo campeón tiene veintiséis mil</a:t>
            </a:r>
          </a:p>
          <a:p>
            <a:r>
              <a:t>parámetros. Lo que movió la aguja no fue agregar capacidad — la probamos y no alcanzó — sino</a:t>
            </a:r>
          </a:p>
          <a:p>
            <a:r>
              <a:t>decidir bien qué entra y cómo se codifica.</a:t>
            </a:r>
          </a:p>
          <a:p/>
          <a:p>
            <a:r>
              <a:t>Tres: la atención aporta, y lo medimos con vara honesta. Cuarenta y ocho milésimas contra</a:t>
            </a:r>
          </a:p>
          <a:p>
            <a:r>
              <a:t>su gemelo sin atención, con la misma entrada y las mismas semillas. Y contra el mejor MLP</a:t>
            </a:r>
          </a:p>
          <a:p>
            <a:r>
              <a:t>posible, que tiene cuatro veces y media más parámetros, veintisiete milésimas. Sigue ganando.</a:t>
            </a:r>
          </a:p>
          <a:p/>
          <a:p>
            <a:r>
              <a:t>Cuatro: el mejor encoding fue el más simple. Ordinal — un número por nivel, ordenado por su</a:t>
            </a:r>
          </a:p>
          <a:p>
            <a:r>
              <a:t>tasa de compra. Le ganó a embeddings, a target y a hashing. Y refutó nuestra propia hipótesis,</a:t>
            </a:r>
          </a:p>
          <a:p>
            <a:r>
              <a:t>que es exactamente lo que uno quiere de un experimento.</a:t>
            </a:r>
          </a:p>
          <a:p/>
          <a:p>
            <a:r>
              <a:t>Y cinco: el modelo es auditable. La atención y la importancia por permutación coinciden en</a:t>
            </a:r>
          </a:p>
          <a:p>
            <a:r>
              <a:t>qué mira. Las probabilidades están calibradas. Y en la práctica elige bien el producto a</a:t>
            </a:r>
          </a:p>
          <a:p>
            <a:r>
              <a:t>promocionar el noventa y uno por ciento de las veces, contra veintisiete del azar."</a:t>
            </a:r>
          </a:p>
          <a:p/>
          <a:p>
            <a:r>
              <a:t>→ en pantalla: las cinco numeradas, cada una con su titular y su explicación. Leé el titular en</a:t>
            </a:r>
          </a:p>
          <a:p>
            <a:r>
              <a:t>voz alta y contá la explicación con tus palabras — no la leas.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· Gracias — [5 s]</a:t>
            </a:r>
          </a:p>
          <a:p/>
          <a:p>
            <a:r>
              <a:t>"Eso es todo. Gracias, y quedamos para preguntas."</a:t>
            </a:r>
          </a:p>
          <a:p/>
          <a:p>
            <a:r>
              <a:t>→ en pantalla: pantalla oscura, «Gracias» grande, «Preguntas» y los tres nombres. Queda ahí</a:t>
            </a:r>
          </a:p>
          <a:p>
            <a:r>
              <a:t>mientras contestan.</a:t>
            </a:r>
          </a:p>
          <a:p/>
          <a:p>
            <a:r>
              <a:t>Apéndice para preguntas</a:t>
            </a:r>
          </a:p>
          <a:p/>
          <a:p>
            <a:r>
              <a:t>No se presenta. Es para tener las respuestas a mano.</a:t>
            </a:r>
          </a:p>
          <a:p/>
          <a:p>
            <a:r>
              <a:t>¿Por qué PR-AUC y no F1?</a:t>
            </a:r>
          </a:p>
          <a:p>
            <a:r>
              <a:t>F1 necesita umbral; el uso es ranking. Igual lo medimos: F1 máximo 0.784 en umbral 0.40 — o sea</a:t>
            </a:r>
          </a:p>
          <a:p>
            <a:r>
              <a:t>que 0.5 hubiera sido arbitrario.</a:t>
            </a:r>
          </a:p>
          <a:p/>
          <a:p>
            <a:r>
              <a:t>¿Por qué no ROC como principal?</a:t>
            </a:r>
          </a:p>
          <a:p>
            <a:r>
              <a:t>Con 13% de positivos el ROC oculta fallas. Ejemplo propio: el encoding por hashing tiene ROC 0.88</a:t>
            </a:r>
          </a:p>
          <a:p>
            <a:r>
              <a:t>—suena razonable— y PR-AUC 0.498, que es un colapso.</a:t>
            </a:r>
          </a:p>
          <a:p/>
          <a:p>
            <a:r>
              <a:t>¿Hay overfitting?</a:t>
            </a:r>
          </a:p>
          <a:p>
            <a:r>
              <a:t>Curvas de train y validación por época en cada corrida. Early stopping por validación. Gap de</a:t>
            </a:r>
          </a:p>
          <a:p>
            <a:r>
              <a:t>validación a test entre 0.01 y 0.03, que es selección normal. Y el encoding ordinal es en sí una</a:t>
            </a:r>
          </a:p>
          <a:p>
            <a:r>
              <a:t>regularización.</a:t>
            </a:r>
          </a:p>
          <a:p/>
          <a:p>
            <a:r>
              <a:t>¿Por qué no validación cruzada desde el principio?</a:t>
            </a:r>
          </a:p>
          <a:p>
            <a:r>
              <a:t>La cátedra pidió priorizar promedio de corridas. Igual la hicimos al final: GroupKFold 5×6 da</a:t>
            </a:r>
          </a:p>
          <a:p>
            <a:r>
              <a:t>0.821 ± 0.012, consistente con el 0.824.</a:t>
            </a:r>
          </a:p>
          <a:p/>
          <a:p>
            <a:r>
              <a:t>¿Y el split por producto?</a:t>
            </a:r>
          </a:p>
          <a:p>
            <a:r>
              <a:t>Verificado: métricas idénticas restringiendo test a productos nunca vistos. El modelo no recibe</a:t>
            </a:r>
          </a:p>
          <a:p>
            <a:r>
              <a:t>identidad de producto.</a:t>
            </a:r>
          </a:p>
          <a:p/>
          <a:p>
            <a:r>
              <a:t>¿Usar el estado no es hacer trampa?</a:t>
            </a:r>
          </a:p>
          <a:p>
            <a:r>
              <a:t>Es información de estado del catálogo: está disponible al momento de predecir, así que es válida</a:t>
            </a:r>
          </a:p>
          <a:p>
            <a:r>
              <a:t>para predecir. Sí es circular para decidir promociones. Por eso medimos las dos familias — sin</a:t>
            </a:r>
          </a:p>
          <a:p>
            <a:r>
              <a:t>estado, el techo es 0.16 para cualquier modelo, porque el 61% de las filas tiene BTR cero exacto.</a:t>
            </a:r>
          </a:p>
          <a:p/>
          <a:p>
            <a:r>
              <a:t>¿Probaron multi-task con cart?</a:t>
            </a:r>
          </a:p>
          <a:p>
            <a:r>
              <a:t>Sí, como etiqueta auxiliar con λ en 0.1, 0.3 y 0.5. No es leakage porque el modelo la predice en</a:t>
            </a:r>
          </a:p>
          <a:p>
            <a:r>
              <a:t>vez de recibirla. No mejoró: el mejor da 0.809 contra 0.824. Probablemente porque bought implica</a:t>
            </a:r>
          </a:p>
          <a:p>
            <a:r>
              <a:t>cart, así que la tarea auxiliar no agrega información.</a:t>
            </a:r>
          </a:p>
          <a:p/>
          <a:p>
            <a:r>
              <a:t>¿Probaron regularización?</a:t>
            </a:r>
          </a:p>
          <a:p>
            <a:r>
              <a:t>Sí, barrido completo con 6 semillas: dropout, weight decay, feature dropout, label smoothing.</a:t>
            </a:r>
          </a:p>
          <a:p>
            <a:r>
              <a:t>Ninguna aporta — sin dropout da 0.828, con dropout 0.1 da 0.824, sin nada 0.824, todo dentro de un</a:t>
            </a:r>
          </a:p>
          <a:p>
            <a:r>
              <a:t>desvío de 0.02. La interpretación es que el early stopping ya evita el sobreajuste. Lo que sí se</a:t>
            </a:r>
          </a:p>
          <a:p>
            <a:r>
              <a:t>ve es el daño del exceso: dropout 0.3 baja a 0.813.</a:t>
            </a:r>
          </a:p>
          <a:p/>
          <a:p>
            <a:r>
              <a:t>¿Probaron achicar más el modelo?</a:t>
            </a:r>
          </a:p>
          <a:p>
            <a:r>
              <a:t>Sí. min_d16l1 —dimensión 16, un bloque, 3.713 parámetros— empata al campeón. Y destilando del</a:t>
            </a:r>
          </a:p>
          <a:p>
            <a:r>
              <a:t>ensamble, un student de 1.937 parámetros llega a 0.828. Compresión de 13×.</a:t>
            </a:r>
          </a:p>
          <a:p/>
          <a:p>
            <a:r>
              <a:t>¿Transfer desde un preentrenado de verdad?</a:t>
            </a:r>
          </a:p>
          <a:p>
            <a:r>
              <a:t>MiniLM. Congelado como token: 0.751. Congelado más MLP: 0.773. Fine-tuneado, con 22,7 millones de</a:t>
            </a:r>
          </a:p>
          <a:p>
            <a:r>
              <a:t>parámetros: 0.811. Ninguno supera nuestros 26 mil parámetros en 0.824. La razón es que el dataset</a:t>
            </a:r>
          </a:p>
          <a:p>
            <a:r>
              <a:t>es sintético y el wording no correlaciona con el comportamiento — "Top Rated" y "Highly Rated"</a:t>
            </a:r>
          </a:p>
          <a:p>
            <a:r>
              <a:t>suenan iguales para BERT y difieren 30× en compra.</a:t>
            </a:r>
          </a:p>
          <a:p/>
          <a:p>
            <a:r>
              <a:t>¿Por qué 26k parámetros y no más?</a:t>
            </a:r>
          </a:p>
          <a:p>
            <a:r>
              <a:t>Porque lo medimos. La meseta de d_model va de 8 a 64 sin diferencias significativas, 4 bloques no</a:t>
            </a:r>
          </a:p>
          <a:p>
            <a:r>
              <a:t>superan a 2, y la config con mejor validación de todo el proyecto (245k parámetros) NO es</a:t>
            </a:r>
          </a:p>
          <a:p>
            <a:r>
              <a:t>mejor en test. Eso último es sobreajuste de selección, y es la razón por la que cerramos la</a:t>
            </a:r>
          </a:p>
          <a:p>
            <a:r>
              <a:t>selección con un procedimiento fijado de antemano.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1" descr="Predicción de Buy Through Rate (BTR) con Transformers un FT-Transformer sobre feature-toke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2" descr="El proble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3" descr="03 · EL PROBLEMA · FORMUL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4" descr="04 · EDA · 1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5" descr="05 · EDA · 2 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6" descr="06 · FEATURES Y PREPROCESAMIEN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7" descr="07 · LA DISCUSIÓN CONCEPT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8" descr="08 · MÉTRICAS Y PROTOCO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09" descr="El mode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0" descr="10 · ARQUITECTURA · DÓNDE VA EL TRANSFORMER Y POR QU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1" descr="11 · ALTERNATIVAS CONSIDERAD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2" descr="12 · BASE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3" descr="Los experiment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4" descr="14 · EXPERIMENT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5" descr="15 · EXPERIMENTO 2 · CABEZ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6" descr="16 · EXPERIMENTO 3 · BLOQU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7" descr="17 · EXPERIMENTO 4 · D_MOD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8" descr="18 · EXPERIMENTO 5 · EL DECISI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19" descr="19 · EXPERIMENTO 6 · INI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0" descr="20 · EXPERIMENTO 7 · TEX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1" descr="21 · DESAFÍOS ENCONTRAD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2" descr="Resultad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3" descr="23 · EL MODELO FI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4" descr="24 · ROBUSTE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5" descr="25 · OVERFITTING / UNDERFITT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6" descr="26 · INTERPRETABILID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7" descr="27 · EJERCICIO 3 · TEÓRI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8" descr="28 · CONCLUSIONES · CINCO, CORT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iapo 29" descr="Graci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Buy Through Rate con Transformers</dc:title>
  <dc:subject>TP1 · 73.69 Large Language Models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