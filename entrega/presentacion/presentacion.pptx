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Guión de la presentación — TP1: Predicción de BTR con Transformers</a:t>
            </a:r>
          </a:p>
          <a:p/>
          <a:p>
            <a:r>
              <a:t>Duración total: ~30 minutos (rango pedido: 25–30; ensayar con reloj). Los tiempos por</a:t>
            </a:r>
          </a:p>
          <a:p>
            <a:r>
              <a:t>diapositiva están calibrados para hablar tranquilo; si el reloj aprieta, los recortes seguros</a:t>
            </a:r>
          </a:p>
          <a:p>
            <a:r>
              <a:t>son la diapositiva 16 (inits), la mitad B de la 17 (palabras/w2v) y la 20 (dejar solo la curva</a:t>
            </a:r>
          </a:p>
          <a:p>
            <a:r>
              <a:t>de aprendizaje).</a:t>
            </a:r>
          </a:p>
          <a:p/>
          <a:p>
            <a:r>
              <a:t>La presentación es presentacion.html (abrir en un navegador; flechas ← → para navegar,</a:t>
            </a:r>
          </a:p>
          <a:p>
            <a:r>
              <a:t>imprimir a PDF desde el navegador si Campus pide archivo). Cada sección de este guión indica</a:t>
            </a:r>
          </a:p>
          <a:p>
            <a:r>
              <a:t>[tiempo], el texto sugerido para decir, y → en pantalla con qué señalar.</a:t>
            </a:r>
          </a:p>
          <a:p/>
          <a:p>
            <a:r>
              <a:t>1 · Portada — [0.5 min]</a:t>
            </a:r>
          </a:p>
          <a:p/>
          <a:p>
            <a:r>
              <a:t>Buenas. Vamos a presentar el TP1: predicción de Buy Through Rate en un e-commerce de</a:t>
            </a:r>
          </a:p>
          <a:p>
            <a:r>
              <a:t>supermercado, con un sistema basado en Transformers. La estructura sigue el enunciado:</a:t>
            </a:r>
          </a:p>
          <a:p>
            <a:r>
              <a:t>formulación y EDA, el diseño del sistema con sus experimentos, y al final el ejercicio teórico</a:t>
            </a:r>
          </a:p>
          <a:p>
            <a:r>
              <a:t>de personalización.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· El problema y la formulación — [1.5 min]</a:t>
            </a:r>
          </a:p>
          <a:p/>
          <a:p>
            <a:r>
              <a:t>El BTR es una métrica de negocio: compras sobre impresiones en la página de resultados — la</a:t>
            </a:r>
          </a:p>
          <a:p>
            <a:r>
              <a:t>probabilidad de que un producto mostrado se compre. El objetivo es identificar qué productos</a:t>
            </a:r>
          </a:p>
          <a:p>
            <a:r>
              <a:t>promocionar.</a:t>
            </a:r>
          </a:p>
          <a:p/>
          <a:p>
            <a:r>
              <a:t>La primera decisión del TP es la formulación, y conviene explicitarla: el dataset es un log de</a:t>
            </a:r>
          </a:p>
          <a:p>
            <a:r>
              <a:t>eventos — cada fila es un producto impreso en una búsqueda concreta. Entonces formulamos</a:t>
            </a:r>
          </a:p>
          <a:p>
            <a:r>
              <a:t>clasificación binaria por impresión: el modelo estima p(bought | producto, contexto de</a:t>
            </a:r>
          </a:p>
          <a:p>
            <a:r>
              <a:t>búsqueda). El BTR de negocio por producto sale de agregar esas probabilidades sobre sus</a:t>
            </a:r>
          </a:p>
          <a:p>
            <a:r>
              <a:t>impresiones, y "qué promociono" es rankear por esa agregación. Dos consecuencias: las métricas</a:t>
            </a:r>
          </a:p>
          <a:p>
            <a:r>
              <a:t>correctas son las de clasificación binaria por fila (PR-AUC/ROC-AUC, como sugiere el enunciado),</a:t>
            </a:r>
          </a:p>
          <a:p>
            <a:r>
              <a:t>y no hace falta ningún umbral — el uso final es un ranking.</a:t>
            </a:r>
          </a:p>
          <a:p/>
          <a:p>
            <a:r>
              <a:t>→ en pantalla: el diagrama fila→p→agregación.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· EDA (1): la estructura y la primera trampa — [2 min]</a:t>
            </a:r>
          </a:p>
          <a:p/>
          <a:p>
            <a:r>
              <a:t>10.000 impresiones, 2.012 búsquedas de 1 a 8 productos, 13% de positivos. Los filtros de la</a:t>
            </a:r>
          </a:p>
          <a:p>
            <a:r>
              <a:t>búsqueda son constantes dentro de cada query — son contexto de la búsqueda, no del producto — y</a:t>
            </a:r>
          </a:p>
          <a:p>
            <a:r>
              <a:t>verificamos que el 100% de los productos impresos cumple su filtro: eso significa que</a:t>
            </a:r>
          </a:p>
          <a:p>
            <a:r>
              <a:t>filter_category y filter_storage_type no informan nada por sí solos a nivel fila.</a:t>
            </a:r>
          </a:p>
          <a:p/>
          <a:p>
            <a:r>
              <a:t>La primera trampa: cart. Comprado implica carrito en el 100% de las filas — es el funnel</a:t>
            </a:r>
          </a:p>
          <a:p>
            <a:r>
              <a:t>impresión→carrito→compra, o sea, es *parte del resultado del mismo evento*, no un atributo</a:t>
            </a:r>
          </a:p>
          <a:p>
            <a:r>
              <a:t>disponible al momento de decidir qué promocionar. Usarlo sería leakage: p(bought|cart=False) es</a:t>
            </a:r>
          </a:p>
          <a:p>
            <a:r>
              <a:t>exactamente 0 y el modelo degeneraría a mirar solo eso. Queda afuera. (Spoiler: más adelante lo</a:t>
            </a:r>
          </a:p>
          <a:p>
            <a:r>
              <a:t>probamos como *label auxiliar* de multi-task — que no es leakage porque nunca es input — y</a:t>
            </a:r>
          </a:p>
          <a:p>
            <a:r>
              <a:t>tampoco aportó.)</a:t>
            </a:r>
          </a:p>
          <a:p/>
          <a:p>
            <a:r>
              <a:t>→ en pantalla: tabla de estructura + el 100% de bought⟹cart. Alternativa/apertura:</a:t>
            </a:r>
          </a:p>
          <a:p>
            <a:r>
              <a:t>graficos/matriz_asociacion.png — la matriz de asociación completa (la fila del target es un</a:t>
            </a:r>
          </a:p>
          <a:p>
            <a:r>
              <a:t>desierto con un pico: status 0.75, todo lo demás &lt;0.09) + el PCA 2D donde las clases NO se</a:t>
            </a:r>
          </a:p>
          <a:p>
            <a:r>
              <a:t>separan; en una imagen queda claro dónde vive la señal antes de contar cómo la extraemos.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· EDA (2): la señal dominante está escondida en el texto — [2.5 min]</a:t>
            </a:r>
          </a:p>
          <a:p/>
          <a:p>
            <a:r>
              <a:t>El hallazgo central del EDA. El título termina en un sufijo entre paréntesis — "(Best Seller)",</a:t>
            </a:r>
          </a:p>
          <a:p>
            <a:r>
              <a:t>"(Top Rated)" — en el 95% de las filas, y ese sufijo define tiers de BTR brutales: cuatro</a:t>
            </a:r>
          </a:p>
          <a:p>
            <a:r>
              <a:t>sufijos compran entre 0.63 y 0.68; otros cuatro, 0.02–0.04; los once restantes y el sin-sufijo,</a:t>
            </a:r>
          </a:p>
          <a:p>
            <a:r>
              <a:t>0.000 exacto. Y ojo: no es sentimiento — "Highly Rated" suena tan positivo como "Top Rated"</a:t>
            </a:r>
          </a:p>
          <a:p>
            <a:r>
              <a:t>y compra 50 veces menos. Hay que aprender la partición exacta, no la valencia. La última oración</a:t>
            </a:r>
          </a:p>
          <a:p>
            <a:r>
              <a:t>de la descripción repite lo mismo en prosa (verificado por crosstab).</a:t>
            </a:r>
          </a:p>
          <a:p/>
          <a:p>
            <a:r>
              <a:t>Segundo efecto: el precio tiene una U invertida dentro del rango filtrado — se compra más en</a:t>
            </a:r>
          </a:p>
          <a:p>
            <a:r>
              <a:t>el medio del rango que en los extremos — y está condicionada al tier. Eso motiva price_rel: la</a:t>
            </a:r>
          </a:p>
          <a:p>
            <a:r>
              <a:t>posición relativa del precio dentro del rango que pidió el usuario. Es una señal *relacional*</a:t>
            </a:r>
          </a:p>
          <a:p>
            <a:r>
              <a:t>producto×búsqueda.</a:t>
            </a:r>
          </a:p>
          <a:p/>
          <a:p>
            <a:r>
              <a:t>Calidad de datos: los timestamps están rotos — una misma búsqueda tiene eventos separados por</a:t>
            </a:r>
          </a:p>
          <a:p>
            <a:r>
              <a:t>hasta dos años — así que ni split temporal ni features de tiempo (después lo verificamos:</a:t>
            </a:r>
          </a:p>
          <a:p>
            <a:r>
              <a:t>agregar hora/día empeora). Y descartamos la lectura alternativa de que query_id fuera un</a:t>
            </a:r>
          </a:p>
          <a:p>
            <a:r>
              <a:t>template re-ejecutado en el tiempo: ningún producto aparece dos veces en todo el dataset</a:t>
            </a:r>
          </a:p>
          <a:p>
            <a:r>
              <a:t>(10.000/10.000 únicos), ni siquiera entre queries con filtros idénticos — no hay catálogo</a:t>
            </a:r>
          </a:p>
          <a:p>
            <a:r>
              <a:t>persistente, el timestamp es ruido del generador. Y hay redundancias: package_size ≈ peso,</a:t>
            </a:r>
          </a:p>
          <a:p>
            <a:r>
              <a:t>dimensiones ≈ envase, descripción ≈ sufijo.</a:t>
            </a:r>
          </a:p>
          <a:p/>
          <a:p>
            <a:r>
              <a:t>→ en pantalla: la tabla de tiers; el gráfico de la 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· Features y preprocesamiento — [2 min]</a:t>
            </a:r>
          </a:p>
          <a:p/>
          <a:p>
            <a:r>
              <a:t>Con ese EDA, la selección queda así. Entran 7 categóricas — incluida listing_status, que</a:t>
            </a:r>
          </a:p>
          <a:p>
            <a:r>
              <a:t>*derivamos* parseando el sufijo del título con una regex — y 6 numéricas, incluida</a:t>
            </a:r>
          </a:p>
          <a:p>
            <a:r>
              <a:t>price_rel derivada. Preprocesamiento por tipo: categóricas → codificación (era LA decisión</a:t>
            </a:r>
          </a:p>
          <a:p>
            <a:r>
              <a:t>abierta: el enunciado sugiere investigar one-hot y alternativas — le dedicamos un experimento</a:t>
            </a:r>
          </a:p>
          <a:p>
            <a:r>
              <a:t>entero, diapositiva 15); numéricas → z-score con estadísticos de train, con log1p previo en las</a:t>
            </a:r>
          </a:p>
          <a:p>
            <a:r>
              <a:t>dos sesgadas a derecha (price, peso). Todo se ajusta solo con train; los niveles no vistos</a:t>
            </a:r>
          </a:p>
          <a:p>
            <a:r>
              <a:t>van a un índice UNK.</a:t>
            </a:r>
          </a:p>
          <a:p/>
          <a:p>
            <a:r>
              <a:t>Quedan afuera: cart (leakage), query_id (solo particiona), timestamp (roto), los filtros</a:t>
            </a:r>
          </a:p>
          <a:p>
            <a:r>
              <a:t>redundantes, package/dimensiones/ingredientes (redundantes con el peso). Punto metodológico que</a:t>
            </a:r>
          </a:p>
          <a:p>
            <a:r>
              <a:t>nos importa: cada descarte fue después verificado por ablación — reintroducir esos campos</a:t>
            </a:r>
          </a:p>
          <a:p>
            <a:r>
              <a:t>midió delta ≈ 0. No descartamos en papel; descartamos y comprobamos.</a:t>
            </a:r>
          </a:p>
          <a:p/>
          <a:p>
            <a:r>
              <a:t>→ en pantalla: la tabla feature→preprocesamiento→justificación.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· ¿Es válido usar "Best Seller"? Dos familias — [1.5 min]</a:t>
            </a:r>
          </a:p>
          <a:p/>
          <a:p>
            <a:r>
              <a:t>Discusión conceptual que tuvimos en el equipo: esos badges se asignan *después* de vender mucho</a:t>
            </a:r>
          </a:p>
          <a:p>
            <a:r>
              <a:t>— ¿no es circular usarlos? Nuestra resolución: distinguir tres clases de información. Outcome</a:t>
            </a:r>
          </a:p>
          <a:p>
            <a:r>
              <a:t>del mismo evento (cart): leakage estricto, nunca. Estado del producto al momento de la</a:t>
            </a:r>
          </a:p>
          <a:p>
            <a:r>
              <a:t>impresión (los badges): disponible al predecir y plausiblemente causal — prueba social — así</a:t>
            </a:r>
          </a:p>
          <a:p>
            <a:r>
              <a:t>que es válido para *predecir*, pero es circular para *decidir promociones* y ciego al producto</a:t>
            </a:r>
          </a:p>
          <a:p>
            <a:r>
              <a:t>nuevo. Atributos intrínsecos: válidos siempre.</a:t>
            </a:r>
          </a:p>
          <a:p/>
          <a:p>
            <a:r>
              <a:t>Entonces entrenamos dos familias: *catálogo* (con estado — responde qué promocionar hoy) e</a:t>
            </a:r>
          </a:p>
          <a:p>
            <a:r>
              <a:t>*intrínseca* (sin el estado, ni parseado ni escondido en el texto — responde qué esperar de un</a:t>
            </a:r>
          </a:p>
          <a:p>
            <a:r>
              <a:t>producto nuevo). Adelanto el resultado porque encuadra todo: con estado se llega a ~0.82; sin</a:t>
            </a:r>
          </a:p>
          <a:p>
            <a:r>
              <a:t>estado, nadie — ni el GBM — pasa de ~0.16, porque el 61% de las filas vive en tiers de BTR</a:t>
            </a:r>
          </a:p>
          <a:p>
            <a:r>
              <a:t>exactamente cero. Eso no es un bug del modelo: es un hallazgo sobre el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· Métricas y protocolo experimental — [2.5 min]</a:t>
            </a:r>
          </a:p>
          <a:p/>
          <a:p>
            <a:r>
              <a:t>Métricas. Con 13% de positivos, accuracy es inútil (el 87% se consigue diciendo siempre</a:t>
            </a:r>
          </a:p>
          <a:p>
            <a:r>
              <a:t>"no"). La principal es PR-AUC — el azar da 0.131, así que hay mucho rango — y ROC-AUC</a:t>
            </a:r>
          </a:p>
          <a:p>
            <a:r>
              <a:t>como complementaria, tal como sugiere el enunciado. Sin umbral: el uso es ranking; igual</a:t>
            </a:r>
          </a:p>
          <a:p>
            <a:r>
              <a:t>medimos y guardamos las 16 métricas en cada época y corrida — y una de ellas lo confirma: el</a:t>
            </a:r>
          </a:p>
          <a:p>
            <a:r>
              <a:t>F1 máximo se alcanza en umbral ~0.40, no 0.5 — cualquier umbral fijo hubiera sido arbitrario.</a:t>
            </a:r>
          </a:p>
          <a:p>
            <a:r>
              <a:t>Overfitting/underfitting: las curvas train/val por época están guardadas para todas las</a:t>
            </a:r>
          </a:p>
          <a:p>
            <a:r>
              <a:t>corridas; el early stopping corta por PR-AUC de validación con paciencia 20.</a:t>
            </a:r>
          </a:p>
          <a:p/>
          <a:p>
            <a:r>
              <a:t>Partición. Por query_id, 70/15/15: una búsqueda entera cae del mismo lado — un split</a:t>
            </a:r>
          </a:p>
          <a:p>
            <a:r>
              <a:t>aleatorio por fila filtraría información de la página. ¿Por qué no temporal? Timestamps rotos.</a:t>
            </a:r>
          </a:p>
          <a:p>
            <a:r>
              <a:t>¿Por producto? Lo verificamos: 99% de los títulos son únicos, y restringir test a productos</a:t>
            </a:r>
          </a:p>
          <a:p>
            <a:r>
              <a:t>jamás vistos da métricas idénticas — el modelo no recibe identidad del producto, no hay canal</a:t>
            </a:r>
          </a:p>
          <a:p>
            <a:r>
              <a:t>para memorizar.</a:t>
            </a:r>
          </a:p>
          <a:p/>
          <a:p>
            <a:r>
              <a:t>Varianza. Seguimos la priorización de la cátedra: promedio de ejecuciones — 6 seeds por</a:t>
            </a:r>
          </a:p>
          <a:p>
            <a:r>
              <a:t>configuración — antes que cross-validation. Y como cierre de robustez igual corrimos GroupKFold</a:t>
            </a:r>
          </a:p>
          <a:p>
            <a:r>
              <a:t>5×6: da 0.821 ± 0.012, consistente. Disciplina en todo el TP: los hiperparámetros se eligen</a:t>
            </a:r>
          </a:p>
          <a:p>
            <a:r>
              <a:t>mirando validación; test se reporta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 · La arquitectura: dónde va el transformer y por qué — [3 min]</a:t>
            </a:r>
          </a:p>
          <a:p/>
          <a:p>
            <a:r>
              <a:t>La pregunta del enunciado: ¿dónde, cómo y por qué un transformer? Nuestra respuesta sale del</a:t>
            </a:r>
          </a:p>
          <a:p>
            <a:r>
              <a:t>EDA: la señal de este problema es relacional — el precio importa *en relación al rango del</a:t>
            </a:r>
          </a:p>
          <a:p>
            <a:r>
              <a:t>filtro*; la U del precio está condicionada *al tier*. Un modelo lineal tiene que recibir esos</a:t>
            </a:r>
          </a:p>
          <a:p>
            <a:r>
              <a:t>cruces hechos a mano; la self-attention los computa de a pares, en forma aprendida — es la</a:t>
            </a:r>
          </a:p>
          <a:p>
            <a:r>
              <a:t>generalización de las feature crosses. Por eso la arquitectura base es un FT-Transformer:</a:t>
            </a:r>
          </a:p>
          <a:p>
            <a:r>
              <a:t>cada feature es un token.</a:t>
            </a:r>
          </a:p>
          <a:p/>
          <a:p>
            <a:r>
              <a:t>¿Cómo puede la atención comparar un precio con una marca? Porque no hace falta que los tokens</a:t>
            </a:r>
          </a:p>
          <a:p>
            <a:r>
              <a:t>sean "del mismo tipo" — hace falta que vivan en el mismo espacio ℝ^d, y eso es exactamente</a:t>
            </a:r>
          </a:p>
          <a:p>
            <a:r>
              <a:t>lo que hace el tokenizador de features: cada numérica entra como x·w+b con vectores aprendidos,</a:t>
            </a:r>
          </a:p>
          <a:p>
            <a:r>
              <a:t>cada categórica con su codificación. Es el mismo principio por el que en un LLM conviven</a:t>
            </a:r>
          </a:p>
          <a:p>
            <a:r>
              <a:t>"perro", una coma y un número.</a:t>
            </a:r>
          </a:p>
          <a:p/>
          <a:p>
            <a:r>
              <a:t>El resto es un encoder estándar, y acá está el mapeo con la teoría de las clases 1 y 2:</a:t>
            </a:r>
          </a:p>
          <a:p>
            <a:r>
              <a:t>usamos los mismos bloques de la demo de la cátedra — Head, MultiHeadAttention, FeedForward,</a:t>
            </a:r>
          </a:p>
          <a:p>
            <a:r>
              <a:t>Block pre-LN con residuales — con dos adaptaciones justificadas. Uno: sin máscara causal —</a:t>
            </a:r>
          </a:p>
          <a:p>
            <a:r>
              <a:t>esto es clasificación de un conjunto, no generación autoregresiva; atención bidireccional como</a:t>
            </a:r>
          </a:p>
          <a:p>
            <a:r>
              <a:t>BERT. Dos: el escalado por √d_k se hace una vez, como el paper (la demo escalaba dos veces).</a:t>
            </a:r>
          </a:p>
          <a:p>
            <a:r>
              <a:t>Agregamos un token [CLS] de lectura — no aporta información, la *recolecta*: como atiende a</a:t>
            </a:r>
          </a:p>
          <a:p>
            <a:r>
              <a:t>todo en cada capa, su estado final es el resumen para clasificar (clase 2, BERT). Y sin</a:t>
            </a:r>
          </a:p>
          <a:p>
            <a:r>
              <a:t>positional encoding: un conjunto de features no tiene orden — la identidad de cada columna ya</a:t>
            </a:r>
          </a:p>
          <a:p>
            <a:r>
              <a:t>vive en sus parámetros propios. No lo asumimos: lo medimos, agregar PE da delta ≈ 0. Tamaño</a:t>
            </a:r>
          </a:p>
          <a:p>
            <a:r>
              <a:t>inicial siguiendo la sugerencia del enunciado: d_model=32 (&lt;100), 4 cabezas, 2 bloques.</a:t>
            </a:r>
          </a:p>
          <a:p/>
          <a:p>
            <a:r>
              <a:t>→ en pantalla: el diagrama completo de la arquitectura (del CSV a p(bought)).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· Alternativas consideradas — y medidas — [1.5 min]</a:t>
            </a:r>
          </a:p>
          <a:p/>
          <a:p>
            <a:r>
              <a:t>Antes de comprometernos evaluamos dónde MÁS podía ir el transformer, porque "que use un</a:t>
            </a:r>
          </a:p>
          <a:p>
            <a:r>
              <a:t>transformer" no fija dónde. Las tres alternativas serias: (a) el texto crudo como tokens —</a:t>
            </a:r>
          </a:p>
          <a:p>
            <a:r>
              <a:t>la demo literal, caracteres de título+descripción; la señal está ahí, pero el EDA mostró que se</a:t>
            </a:r>
          </a:p>
          <a:p>
            <a:r>
              <a:t>extrae con una regex — gastar atención cuadrática sobre 257 tokens para eso es caro; (b)</a:t>
            </a:r>
          </a:p>
          <a:p>
            <a:r>
              <a:t>los productos de la página como tokens (listwise) — modela la competencia dentro de la</a:t>
            </a:r>
          </a:p>
          <a:p>
            <a:r>
              <a:t>búsqueda, pero el EDA midió competencia débil (se compran varios productos por página); (c)</a:t>
            </a:r>
          </a:p>
          <a:p>
            <a:r>
              <a:t>el transformer solo como encoder de texto + un MLP clasificador. Elegimos features-como-</a:t>
            </a:r>
          </a:p>
          <a:p>
            <a:r>
              <a:t>tokens como base… pero no descartamos en papel: implementamos y corrimos las tres (y dos</a:t>
            </a:r>
          </a:p>
          <a:p>
            <a:r>
              <a:t>variantes más). Los resultados les dan la razón a los diagnósticos del EDA — los vemos en la</a:t>
            </a:r>
          </a:p>
          <a:p>
            <a:r>
              <a:t>diapositiva 17 y en la tabla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· Baselines: la vara — [1 min]</a:t>
            </a:r>
          </a:p>
          <a:p/>
          <a:p>
            <a:r>
              <a:t>Escalera de complejidad antes del transformer, con el mismo split y las mismas métricas:</a:t>
            </a:r>
          </a:p>
          <a:p>
            <a:r>
              <a:t>regresión logística 0.698 — la vara lineal; GBM 0.762 — la vara no lineal fuerte,</a:t>
            </a:r>
          </a:p>
          <a:p>
            <a:r>
              <a:t>árboles con interacciones; y un MLP denso con exactamente los mismos embeddings de entrada</a:t>
            </a:r>
          </a:p>
          <a:p>
            <a:r>
              <a:t>que el transformer: 0.746. Regla de honestidad que nos pusimos: si el transformer no supera</a:t>
            </a:r>
          </a:p>
          <a:p>
            <a:r>
              <a:t>esto, la capa de atención no se justifica.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· Experimento 1: ¿la atención aporta? — [2 min]</a:t>
            </a:r>
          </a:p>
          <a:p/>
          <a:p>
            <a:r>
              <a:t>La comparación central, apareada por seed (mismo split): transformer vs MLP con la misma</a:t>
            </a:r>
          </a:p>
          <a:p>
            <a:r>
              <a:t>entrada — la única diferencia es qué mezcla los tokens. Resultado: +0.048, gana en 5 de 6</a:t>
            </a:r>
          </a:p>
          <a:p>
            <a:r>
              <a:t>seeds, con el MLP teniendo 4,5 veces más parámetros. La atención aporta y no es cuestión de</a:t>
            </a:r>
          </a:p>
          <a:p>
            <a:r>
              <a:t>tamaño.</a:t>
            </a:r>
          </a:p>
          <a:p/>
          <a:p>
            <a:r>
              <a:t>Dos refinamientos honestos que nos parecieron importantes. Uno: al MLP le probamos también</a:t>
            </a:r>
          </a:p>
          <a:p>
            <a:r>
              <a:t>one-hot crudo en vez de embeddings y mejoró a 0.797 — parte del déficit del MLP era su entrada;</a:t>
            </a:r>
          </a:p>
          <a:p>
            <a:r>
              <a:t>contra el *mejor* MLP posible, la ventaja del mejor transformer es +0.027. Sigue ganando, con la</a:t>
            </a:r>
          </a:p>
          <a:p>
            <a:r>
              <a:t>vara más alta. Dos: ¿la atención solo "descubrió" el cruce precio×tier que ya sabíamos del EDA?</a:t>
            </a:r>
          </a:p>
          <a:p>
            <a:r>
              <a:t>Le dimos ese cruce a mano a la logística: mejora +0.015, pero eso explica solo el 12% del</a:t>
            </a:r>
          </a:p>
          <a:p>
            <a:r>
              <a:t>gap — la atención aprende bastante más que esa única interacción.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· Experimento 2: ¿cuántas cabezas? — [1 min]</a:t>
            </a:r>
          </a:p>
          <a:p/>
          <a:p>
            <a:r>
              <a:t>Por qué variarlo: multi-head significa varias "consultas" en subespacios distintos, en</a:t>
            </a:r>
          </a:p>
          <a:p>
            <a:r>
              <a:t>paralelo; la pregunta es si este problema las necesita o si hay una sola señal dominante. El</a:t>
            </a:r>
          </a:p>
          <a:p>
            <a:r>
              <a:t>resultado tiene una sorpresa metodológica que vale la pena contar: con embeddings, una cabeza</a:t>
            </a:r>
          </a:p>
          <a:p>
            <a:r>
              <a:t>grande le gana a cuatro chicas (0.816 vs 0.798 — una consulta rica vale más que cuatro</a:t>
            </a:r>
          </a:p>
          <a:p>
            <a:r>
              <a:t>pobres, coherente con el EDA); pero sobre la base ordinal, cuatro cabezas ganan (0.824 vs</a:t>
            </a:r>
          </a:p>
          <a:p>
            <a:r>
              <a:t>0.800). Es decir: el eje interactúa con el encoding, y por eso ninguna decisión se hereda</a:t>
            </a:r>
          </a:p>
          <a:p>
            <a:r>
              <a:t>de otra base — cada una se re-decide por validación sobre la base final.</a:t>
            </a:r>
          </a:p>
          <a:p/>
          <a:p>
            <a:r>
              <a:t>→ en pantalla: la diapo trae el gráfico del eje (decision_cabezas.png): elegida en verde,</a:t>
            </a:r>
          </a:p>
          <a:p>
            <a:r>
              <a:t>alternativas en violeta, la serie de la otra base en gris.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· Experimento 3: ¿cuánta profundidad? — [0.75 min]</a:t>
            </a:r>
          </a:p>
          <a:p/>
          <a:p>
            <a:r>
              <a:t>Por qué variarlo: más bloques es componer atención sobre atención — y con 13 features que</a:t>
            </a:r>
          </a:p>
          <a:p>
            <a:r>
              <a:t>ya se ven todas a un salto, la hipótesis era que no hace falta. Confirmado: 1 bloque pierde</a:t>
            </a:r>
          </a:p>
          <a:p>
            <a:r>
              <a:t>poco (0.801), 2 ganan (0.824), 4 no suman (0.811, con el doble de parámetros). Adelanto de</a:t>
            </a:r>
          </a:p>
          <a:p>
            <a:r>
              <a:t>la interpretabilidad: el CLS ya concentra 0.75 de su atención en el status en la capa 1. Del</a:t>
            </a:r>
          </a:p>
          <a:p>
            <a:r>
              <a:t>protocolo: más paciencia en el early stopping (8→20) mejora 21/24 configs tabulares.</a:t>
            </a:r>
          </a:p>
          <a:p/>
          <a:p>
            <a:r>
              <a:t>→ en pantalla: decision_bloques.png.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· Experimento 4: ¿qué d_model? — [1 min]</a:t>
            </a:r>
          </a:p>
          <a:p/>
          <a:p>
            <a:r>
              <a:t>Por qué variarlo: dimensionar el embedding al problema (13 features, 10k filas) y no al</a:t>
            </a:r>
          </a:p>
          <a:p>
            <a:r>
              <a:t>hábito de los papers. Resultado: meseta amplia — d8 (1.937 params) 0.814, d16 (6.945)</a:t>
            </a:r>
          </a:p>
          <a:p>
            <a:r>
              <a:t>0.815, d32 (26.177) 0.824, d64 (105k, embeddings) 0.815; d32 se elige por validación. El</a:t>
            </a:r>
          </a:p>
          <a:p>
            <a:r>
              <a:t>epílogo fuerte (7ª tanda): d16 con 1 bloque —3.713 parámetros— empata al campeón, y</a:t>
            </a:r>
          </a:p>
          <a:p>
            <a:r>
              <a:t>destilando del deep-ensemble el nivel campeón aguanta hasta 1.937 (curva completa en backup).</a:t>
            </a:r>
          </a:p>
          <a:p>
            <a:r>
              <a:t>Cierre de los tres ejes de capacidad: el experimento decisivo no era capacidad: era la</a:t>
            </a:r>
          </a:p>
          <a:p>
            <a:r>
              <a:t>codificación de la entrada — transición a la diapo siguiente.</a:t>
            </a:r>
          </a:p>
          <a:p/>
          <a:p>
            <a:r>
              <a:t>→ en pantalla: decision_dmodel.png. Figura paraguas de los 6 ejes para preguntas:</a:t>
            </a:r>
          </a:p>
          <a:p>
            <a:r>
              <a:t>decisiones_por_eje.png; índice detallado: mapa_decisiones.md.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· Experimento 5: la codificación de las categóricas — [2.5 min]</a:t>
            </a:r>
          </a:p>
          <a:p/>
          <a:p>
            <a:r>
              <a:t>La sugerencia del enunciado era investigar codificaciones — one-hot y alternativas. El menú que</a:t>
            </a:r>
          </a:p>
          <a:p>
            <a:r>
              <a:t>implementamos y corrimos, todo lo demás fijo: primero, un resultado teórico que ahorra un</a:t>
            </a:r>
          </a:p>
          <a:p>
            <a:r>
              <a:t>experimento: one-hot seguido de proyección lineal aprende exactamente la misma matriz que un</a:t>
            </a:r>
          </a:p>
          <a:p>
            <a:r>
              <a:t>embedding — son el mismo modelo para el transformer; por eso one-hot solo se prueba como</a:t>
            </a:r>
          </a:p>
          <a:p>
            <a:r>
              <a:t>entrada cruda al MLP. Después: embedding aprendido por columna (el estándar FT-Transformer),</a:t>
            </a:r>
          </a:p>
          <a:p>
            <a:r>
              <a:t>target encoding (nivel → BTR promedio suavizado de train), ordinal (nivel → su *rango*</a:t>
            </a:r>
          </a:p>
          <a:p>
            <a:r>
              <a:t>al ordenar por ese BTR, normalizado), frequency y hashing.</a:t>
            </a:r>
          </a:p>
          <a:p/>
          <a:p>
            <a:r>
              <a:t>Resultado — y acá está la sorpresa del TP: ordinal global gana: 0.824, por encima del</a:t>
            </a:r>
          </a:p>
          <a:p>
            <a:r>
              <a:t>embedding (0.798) y del target (0.813). Los contraejemplos calibran el porqué: frequency (0.22)</a:t>
            </a:r>
          </a:p>
          <a:p>
            <a:r>
              <a:t>y hashing (0.50) *destruyen* la señal — la frecuencia no correlaciona con comprar, y las</a:t>
            </a:r>
          </a:p>
          <a:p>
            <a:r>
              <a:t>colisiones del módulo mezclan tiers. La regla: la codificación debe preservar la relación</a:t>
            </a:r>
          </a:p>
          <a:p>
            <a:r>
              <a:t>nivel→propensión. ¿Y por qué ordinal le gana al embedding, si el embedding puede aprender</a:t>
            </a:r>
          </a:p>
          <a:p>
            <a:r>
              <a:t>cualquier cosa? Porque en 10k filas, "poder aprender cualquier cosa" es overfitting: el rango</a:t>
            </a:r>
          </a:p>
          <a:p>
            <a:r>
              <a:t>inyecta como *prior* el orden que el embedding tendría que aprender, con un escalar en vez de</a:t>
            </a:r>
          </a:p>
          <a:p>
            <a:r>
              <a:t>una tabla — 26k parámetros totales. Y le gana a target porque los rangos equiespaciados están</a:t>
            </a:r>
          </a:p>
          <a:p>
            <a:r>
              <a:t>mejor condicionados que las magnitudes apelmazadas (0.65/0.03/0.000). Reflexión honesta: nuestra</a:t>
            </a:r>
          </a:p>
          <a:p>
            <a:r>
              <a:t>hipótesis previa era exactamente la inversa (embedding ≥ target ≥ ordinal) — los datos nos</a:t>
            </a:r>
          </a:p>
          <a:p>
            <a:r>
              <a:t>corrigieron, y esa corrección es el mejor modelo del TP.</a:t>
            </a:r>
          </a:p>
          <a:p/>
          <a:p>
            <a:r>
              <a:t>→ en pantalla: tabla del menú con resultados; el campeón resaltado.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· Experimento 6: ¿arrancar de pesos informados? — [1 min]</a:t>
            </a:r>
          </a:p>
          <a:p/>
          <a:p>
            <a:r>
              <a:t>Por qué variarlo: es la promesa del pre-entrenamiento (clase 3) en miniatura — ¿un init</a:t>
            </a:r>
          </a:p>
          <a:p>
            <a:r>
              <a:t>informado le gana al aleatorio? Tres formas, todas con modelos propios: MLM estilo BERT</a:t>
            </a:r>
          </a:p>
          <a:p>
            <a:r>
              <a:t>sobre los feature-tokens (20 épocas enmascarando features, sin labels) suma +0.011 sobre</a:t>
            </a:r>
          </a:p>
          <a:p>
            <a:r>
              <a:t>embeddings pero nada sobre ordinal — el prior ya hace ese trabajo de regularización;</a:t>
            </a:r>
          </a:p>
          <a:p>
            <a:r>
              <a:t>w2v-init (skipgram propio) regulariza la variante words (+0.010) sin alcanzar a chars; el</a:t>
            </a:r>
          </a:p>
          <a:p>
            <a:r>
              <a:t>autoencoder replica el patrón del MLM. Decisión: init aleatoria. (Si preguntan por transfer</a:t>
            </a:r>
          </a:p>
          <a:p>
            <a:r>
              <a:t>desde un preentrenado DE VERDAD: 8ª tanda en el apéndice — MiniLM congelado resta, fine-tuneado</a:t>
            </a:r>
          </a:p>
          <a:p>
            <a:r>
              <a:t>repara, nada supera 0.824.)</a:t>
            </a:r>
          </a:p>
          <a:p/>
          <a:p>
            <a:r>
              <a:t>→ en pantalla: decision_init.png.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· Experimento 7: ¿y el texto? — [2.5 min]</a:t>
            </a:r>
          </a:p>
          <a:p/>
          <a:p>
            <a:r>
              <a:t>La señal nace en el texto — ¿el transformer puede leerla solo, sin nuestra regex? Corrimos el</a:t>
            </a:r>
          </a:p>
          <a:p>
            <a:r>
              <a:t>arco completo. Texto puro (caracteres como tokens, la demo adaptada de decoder a encoder):</a:t>
            </a:r>
          </a:p>
          <a:p>
            <a:r>
              <a:t>0.652 — muy por encima del techo sin-señal (0.16): *encontró el sufijo solo*; muy por debajo del</a:t>
            </a:r>
          </a:p>
          <a:p>
            <a:r>
              <a:t>tabular: leer caracteres con 36k parámetros cuesta. Híbrido (features + 256 caracteres en</a:t>
            </a:r>
          </a:p>
          <a:p>
            <a:r>
              <a:t>una secuencia): 0.705 — ¡peor que tabular solo! Los 256 tokens de texto *diluyen* la atención</a:t>
            </a:r>
          </a:p>
          <a:p>
            <a:r>
              <a:t>sobre los 13 que importan. Pero el dato fino: al híbrido, sacarle el token parseado no le cuesta</a:t>
            </a:r>
          </a:p>
          <a:p>
            <a:r>
              <a:t>nada — recupera desde los caracteres crudos lo que extraía la regex; a la torre (texto</a:t>
            </a:r>
          </a:p>
          <a:p>
            <a:r>
              <a:t>comprimido a un solo embedding + MLP) sí le cuesta −0.04: su cuello de botella de 32 dims no</a:t>
            </a:r>
          </a:p>
          <a:p>
            <a:r>
              <a:t>deja pasar la señal entera. Y la fusión — comprimir el texto a UN token que entra a la</a:t>
            </a:r>
          </a:p>
          <a:p>
            <a:r>
              <a:t>secuencia tabular — cura la dilución por completo (+0.069 sobre el híbrido, 6 de 6) pero empata</a:t>
            </a:r>
          </a:p>
          <a:p>
            <a:r>
              <a:t>exacto con la torre: una vez comprimido, cruzar por atención o por concatenación da igual.</a:t>
            </a:r>
          </a:p>
          <a:p/>
          <a:p>
            <a:r>
              <a:t>Conclusión de diseño: el texto crudo es *recuperable* pero *redundante* cuando el EDA ya parseó</a:t>
            </a:r>
          </a:p>
          <a:p>
            <a:r>
              <a:t>la señal — y la moraleja del tokenizador: probamos word-level y word2vec pre-entrenado (la</a:t>
            </a:r>
          </a:p>
          <a:p>
            <a:r>
              <a:t>conexión clase 1→2: el pre-training regulariza, +0.010) y aún así el tokenizador chico de</a:t>
            </a:r>
          </a:p>
          <a:p>
            <a:r>
              <a:t>caracteres de la demo resultó el correcto a esta escala.</a:t>
            </a:r>
          </a:p>
          <a:p/>
          <a:p>
            <a:r>
              <a:t>→ en pantalla: el gráfico de barras del arco textual.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· Desafíos encontrados — [2 min]</a:t>
            </a:r>
          </a:p>
          <a:p/>
          <a:p>
            <a:r>
              <a:t>Cuatro que valen la pena contar. El causal degenerado: la ablación "¿importa la máscara</a:t>
            </a:r>
          </a:p>
          <a:p>
            <a:r>
              <a:t>causal?" dio ROC exactamente 0.500. No era "causal es peor": con máscara causal, nuestro [CLS]</a:t>
            </a:r>
          </a:p>
          <a:p>
            <a:r>
              <a:t>en la posición 0 solo podía verse a sí mismo — el modelo predecía una constante (verificado:</a:t>
            </a:r>
          </a:p>
          <a:p>
            <a:r>
              <a:t>p=0.2214 para todo test). El fix es ponerlo al final, como lee GPT; con eso la respuesta real</a:t>
            </a:r>
          </a:p>
          <a:p>
            <a:r>
              <a:t>es "la bidireccionalidad da igual acá". Nos llevamos la lección de arquitectura: los decoders</a:t>
            </a:r>
          </a:p>
          <a:p>
            <a:r>
              <a:t>leen desde el último token, los encoders pueden poner el CLS adelante. Las trampas del</a:t>
            </a:r>
          </a:p>
          <a:p>
            <a:r>
              <a:t>dataset: cart y los timestamps rotos — el EDA los cazó antes de que muerdan. El cómputo:</a:t>
            </a:r>
          </a:p>
          <a:p>
            <a:r>
              <a:t>la familia de texto es inviable en CPU (atención 257²); armamos una suite de experimentos</a:t>
            </a:r>
          </a:p>
          <a:p>
            <a:r>
              <a:t>resumible que corre todo en una GPU consumer y deja cada corrida registrada con sus 16 métricas.</a:t>
            </a:r>
          </a:p>
          <a:p>
            <a:r>
              <a:t>Hipótesis refutadas con datos — las contamos porque el método importa: bins por cuantiles</a:t>
            </a:r>
          </a:p>
          <a:p>
            <a:r>
              <a:t>para la U del precio (el FFN ya la captura), pos_weight para el desbalance (daña: PR-AUC es de</a:t>
            </a:r>
          </a:p>
          <a:p>
            <a:r>
              <a:t>ranking), mean pooling (CLS gana 6/6), positional en features (Δ≈0, como predice la teoría).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· El modelo final — [2 min]</a:t>
            </a:r>
          </a:p>
          <a:p/>
          <a:p>
            <a:r>
              <a:t>FT-Transformer con encoding ordinal: 13 feature-tokens + [CLS], d_model 32, 4 cabezas, 2</a:t>
            </a:r>
          </a:p>
          <a:p>
            <a:r>
              <a:t>bloques pre-LN, sin positional, BCE, AdamW, early stopping por validación con paciencia 20.</a:t>
            </a:r>
          </a:p>
          <a:p>
            <a:r>
              <a:t>26.177 parámetros — el más chico del top 5.</a:t>
            </a:r>
          </a:p>
          <a:p/>
          <a:p>
            <a:r>
              <a:t>Cómo lo elegimos, con disciplina: por validación había un empate técnico entre cuatro configs</a:t>
            </a:r>
          </a:p>
          <a:p>
            <a:r>
              <a:t>(Δ &lt; 0.002 — validación no puede distinguirlas). Desempatamos por parsimonia: menos</a:t>
            </a:r>
          </a:p>
          <a:p>
            <a:r>
              <a:t>parámetros, menor desvío entre seeds, y el menor gap val→test. Recién después miramos test, que</a:t>
            </a:r>
          </a:p>
          <a:p>
            <a:r>
              <a:t>confirma. Números finales: PR-AUC test 0.824 ± 0.018 (6 seeds) · GroupKFold 5×6 0.821 ±</a:t>
            </a:r>
          </a:p>
          <a:p>
            <a:r>
              <a:t>0.012 · ROC 0.975 · F1 máximo 0.784 en umbral 0.40 · y con ensemble — de configuraciones o de</a:t>
            </a:r>
          </a:p>
          <a:p>
            <a:r>
              <a:t>inicializaciones, dos rutas independientes que convergen — 0.834. Contra las varas: GBM</a:t>
            </a:r>
          </a:p>
          <a:p>
            <a:r>
              <a:t>0.762, mejor MLP 0.797.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· Robustez — [1.5 min]</a:t>
            </a:r>
          </a:p>
          <a:p/>
          <a:p>
            <a:r>
              <a:t>Tres verificaciones sobre el modelo final. Curva de aprendizaje: 0.758 → 0.780 → 0.817 →</a:t>
            </a:r>
          </a:p>
          <a:p>
            <a:r>
              <a:t>0.824 al 25/50/75/100% de los datos — casi saturada (el último cuarto aporta +0.007), y con el</a:t>
            </a:r>
          </a:p>
          <a:p>
            <a:r>
              <a:t>75% de los datos ya le gana al GBM entrenado con todo. Varianza: una grilla de 5</a:t>
            </a:r>
          </a:p>
          <a:p>
            <a:r>
              <a:t>inicializaciones × 6 splits mostró que el ±0.018 es mitad lotería del split, mitad</a:t>
            </a:r>
          </a:p>
          <a:p>
            <a:r>
              <a:t>inicialización — valida el protocolo de promediar seeds, y esa mitad de init es justo lo que el</a:t>
            </a:r>
          </a:p>
          <a:p>
            <a:r>
              <a:t>ensemble elimina. Calibración: ECE ~0.01 y temperatura ≈ 1 — importa porque el BTR de</a:t>
            </a:r>
          </a:p>
          <a:p>
            <a:r>
              <a:t>negocio es el *promedio* de las probabilidades: nuestro promedio es un estimador confiable, sin</a:t>
            </a:r>
          </a:p>
          <a:p>
            <a:r>
              <a:t>corrección.</a:t>
            </a:r>
          </a:p>
          <a:p/>
          <a:p>
            <a:r>
              <a:t>→ en pantalla: la curva de aprendizaje.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· ¿El modelo mira donde debe? — [2 min]</a:t>
            </a:r>
          </a:p>
          <a:p/>
          <a:p>
            <a:r>
              <a:t>Con 14 tokens, la matriz de atención se puede *mirar*. En la capa 1, el [CLS] pone el 75% de</a:t>
            </a:r>
          </a:p>
          <a:p>
            <a:r>
              <a:t>su atención en el token de estado, y la familia de precio se consulta entre sí — price y</a:t>
            </a:r>
          </a:p>
          <a:p>
            <a:r>
              <a:t>filter_min atienden a price_rel: la señal relacional, literal en el mapa. La capa 2 mezcla.</a:t>
            </a:r>
          </a:p>
          <a:p>
            <a:r>
              <a:t>Y como "attention is not explanation", lo contrastamos con un diagnóstico independiente basado</a:t>
            </a:r>
          </a:p>
          <a:p>
            <a:r>
              <a:t>en resultados: importancia por permutación — destruir listing_status cuesta 0.68 de</a:t>
            </a:r>
          </a:p>
          <a:p>
            <a:r>
              <a:t>PR-AUC; price_rel, 0.14; allergens, 0.05; el resto, ~0. Dos métodos independientes, la misma</a:t>
            </a:r>
          </a:p>
          <a:p>
            <a:r>
              <a:t>historia — que es exactamente la del EDA. El círculo cierra.</a:t>
            </a:r>
          </a:p>
          <a:p/>
          <a:p>
            <a:r>
              <a:t>Y la traducción al negocio: en las páginas de test con al menos una compra, el producto que el</a:t>
            </a:r>
          </a:p>
          <a:p>
            <a:r>
              <a:t>modelo rankea primero fue efectivamente comprado el 91% de las veces (azar: 27%).</a:t>
            </a:r>
          </a:p>
          <a:p/>
          <a:p>
            <a:r>
              <a:t>→ en pantalla: mapa de atención + barras de importancia, lado a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· Ejercicio 3: personalización (teórico) — [2.5 min]</a:t>
            </a:r>
          </a:p>
          <a:p/>
          <a:p>
            <a:r>
              <a:t>¿Cómo haríamos que el BTR dependa de *quién* busca? Hoy nuestro modelo es</a:t>
            </a:r>
          </a:p>
          <a:p>
            <a:r>
              <a:t>p(bought | producto, búsqueda); personalizar es condicionar también al usuario:</a:t>
            </a:r>
          </a:p>
          <a:p>
            <a:r>
              <a:t>p(bought | producto, búsqueda, usuario). Hace falta primero dato nuevo: user_id y su</a:t>
            </a:r>
          </a:p>
          <a:p>
            <a:r>
              <a:t>historial de eventos — el dataset actual no lo trae.</a:t>
            </a:r>
          </a:p>
          <a:p/>
          <a:p>
            <a:r>
              <a:t>La extensión natural de NUESTRA arquitectura: así como el texto entra como tokens, el</a:t>
            </a:r>
          </a:p>
          <a:p>
            <a:r>
              <a:t>historial del usuario entra como tokens — sus últimas compras/búsquedas, cada una codificada</a:t>
            </a:r>
          </a:p>
          <a:p>
            <a:r>
              <a:t>con el mismo tokenizador de productos — y la secuencia los atiende (estilo BST/SASRec, que es</a:t>
            </a:r>
          </a:p>
          <a:p>
            <a:r>
              <a:t>exactamente esto en producción). El usuario que compra comida de perro todos los meses tiene</a:t>
            </a:r>
          </a:p>
          <a:p>
            <a:r>
              <a:t>esos productos en su historial; cuando aparecen en la página, la atención cruza historial ↔</a:t>
            </a:r>
          </a:p>
          <a:p>
            <a:r>
              <a:t>candidato y sube su probabilidad. La alternativa clásica que conecta con la clase 2:</a:t>
            </a:r>
          </a:p>
          <a:p>
            <a:r>
              <a:t>embeddings de usuario y producto entrenados con negative sampling — item2vec/two-tower,</a:t>
            </a:r>
          </a:p>
          <a:p>
            <a:r>
              <a:t>skipgram donde el "contexto" son los productos con los que el usuario interactuó — útil como</a:t>
            </a:r>
          </a:p>
          <a:p>
            <a:r>
              <a:t>*retrieval* si el catálogo fuera enorme, con nuestro modelo como *ranker* encima. Y el detalle</a:t>
            </a:r>
          </a:p>
          <a:p>
            <a:r>
              <a:t>que este TP nos dejó bien aprendido: el usuario nuevo sin historial es el mismo problema que el</a:t>
            </a:r>
          </a:p>
          <a:p>
            <a:r>
              <a:t>producto nuevo sin estado — cold-start — y el fallback es exactamente el modelo que ya tenemos,</a:t>
            </a:r>
          </a:p>
          <a:p>
            <a:r>
              <a:t>que no depende del usuario.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· Conclusiones — [1 min]</a:t>
            </a:r>
          </a:p>
          <a:p/>
          <a:p>
            <a:r>
              <a:t>Cinco, cortas. El EDA mandó: la señal estaba escondida en un sufijo de texto, y todo el</a:t>
            </a:r>
          </a:p>
          <a:p>
            <a:r>
              <a:t>diseño sale de haberla encontrado. La formulación correcta valió más que el modelo grande:</a:t>
            </a:r>
          </a:p>
          <a:p>
            <a:r>
              <a:t>el campeón tiene 26k parámetros. La atención aporta, medida con vara honesta: +0.048 contra</a:t>
            </a:r>
          </a:p>
          <a:p>
            <a:r>
              <a:t>su gemelo sin atención, +0.027 contra el mejor MLP. La mejor codificación fue un prior</a:t>
            </a:r>
          </a:p>
          <a:p>
            <a:r>
              <a:t>simple: el encoding ordinal derivado de los datos le ganó al embedding — y refutó nuestra</a:t>
            </a:r>
          </a:p>
          <a:p>
            <a:r>
              <a:t>propia hipótesis, que es lo que uno quiere de un experimento. Y el modelo es auditable: la</a:t>
            </a:r>
          </a:p>
          <a:p>
            <a:r>
              <a:t>atención mira el estado, la permutación lo confirma, la calibración permite leer el promedio de</a:t>
            </a:r>
          </a:p>
          <a:p>
            <a:r>
              <a:t>p como BTR, y elige bien el producto a promocionar el 91% de las veces. Número final: PR-AUC</a:t>
            </a:r>
          </a:p>
          <a:p>
            <a:r>
              <a:t>0.824 ± 0.018 — 0.834 en ensemble — contra 0.762 del GBM. Gracias —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Apéndice para preguntas (no se presenta, se defiende)</a:t>
            </a:r>
          </a:p>
          <a:p/>
          <a:p>
            <a:r>
              <a:t>- ¿Por qué PR-AUC y no F1? F1 requiere umbral; el uso es ranking. Igual: F1 máx 0.784 @ 0.40.</a:t>
            </a:r>
          </a:p>
          <a:p>
            <a:r>
              <a:t>- ¿Overfitting? Curvas train/val por época en cada corrida (panel); early stopping por val;</a:t>
            </a:r>
          </a:p>
          <a:p>
            <a:r>
              <a:t>  gap val→test ≈ +0.01/0.03 (selección normal); dropout 0.1; el encoding ordinal es en sí</a:t>
            </a:r>
          </a:p>
          <a:p>
            <a:r>
              <a:t>  regularización (y MLM sobre features, probado, regulariza a los embeddings +0.011 pero no</a:t>
            </a:r>
          </a:p>
          <a:p>
            <a:r>
              <a:t>  agrega sobre ordinal).</a:t>
            </a:r>
          </a:p>
          <a:p>
            <a:r>
              <a:t>- ¿Por qué no CV desde el inicio? La cátedra pidió priorizar promedio de corridas; CV 5×6 al</a:t>
            </a:r>
          </a:p>
          <a:p>
            <a:r>
              <a:t>  final: 0.821 ± 0.012, consistente.</a:t>
            </a:r>
          </a:p>
          <a:p>
            <a:r>
              <a:t>- ¿El split por producto? Verificado: métricas idénticas sobre productos jamás vistos.</a:t>
            </a:r>
          </a:p>
          <a:p>
            <a:r>
              <a:t>- ¿El estado no es hacer trampa? Familia intrínseca medida: sin estado, techo ~0.16 para</a:t>
            </a:r>
          </a:p>
          <a:p>
            <a:r>
              <a:t>  cualquier modelo (61% de filas en tiers de BTR = 0). Es información de estado del catálogo,</a:t>
            </a:r>
          </a:p>
          <a:p>
            <a:r>
              <a:t>  válida al predecir, circular para promover — por eso las dos familias.</a:t>
            </a:r>
          </a:p>
          <a:p>
            <a:r>
              <a:t>- ¿Multi-task con cart? Probado (λ ∈ {0.1, 0.3, 0.5} como label auxiliar): dentro del ruido.</a:t>
            </a:r>
          </a:p>
          <a:p>
            <a:r>
              <a:t>- ¿Probaron especializar los pesos por feature? ¿O achicar más? Sí (5ª tanda, exploratoria,</a:t>
            </a:r>
          </a:p>
          <a:p>
            <a:r>
              <a:t>  posterior al cierre de la selección): desatar W_q/W_k/W_v/FFN por posición empata con el</a:t>
            </a:r>
          </a:p>
          <a:p>
            <a:r>
              <a:t>  campeón (y SÍ ayuda +0.02, 6/6, sobre embeddings — el beneficio existe pero es redundante con</a:t>
            </a:r>
          </a:p>
          <a:p>
            <a:r>
              <a:t>  el prior ordinal); y el modelo admite compresión 7×: min_d16l1 (d16, 1 bloque, 3.713</a:t>
            </a:r>
          </a:p>
          <a:p>
            <a:r>
              <a:t>  parámetros) empata al final. Bonus metodológico: la config con mejor validación de todo el</a:t>
            </a:r>
          </a:p>
          <a:p>
            <a:r>
              <a:t>  proyecto (pf_ffn, 245k params) NO es mejor en test — sobreajuste de selección en vivo, la</a:t>
            </a:r>
          </a:p>
          <a:p>
            <a:r>
              <a:t>  razón por la que la selección se cerró con procedimiento pre-registrado.</a:t>
            </a:r>
          </a:p>
          <a:p>
            <a:r>
              <a:t>- ¿Probaron regularización? (weight decay, dropout, residuales…) Sí (6ª tanda, exploratoria):</a:t>
            </a:r>
          </a:p>
          <a:p>
            <a:r>
              <a:t>  el campeón SIN ninguna regularización explícita (wd 0 + dropout 0) rinde igual (−0.000, 4/6) —</a:t>
            </a:r>
          </a:p>
          <a:p>
            <a:r>
              <a:t>  a 26k parámetros, early stopping + el prior ordinal ya regularizan; agregar MÁS regularización</a:t>
            </a:r>
          </a:p>
          <a:p>
            <a:r>
              <a:t>  daña (dropout 0.3 −0.011, feature-dropout 0.2 −0.029, label smoothing −0.015). Y las ablaciones</a:t>
            </a:r>
          </a:p>
          <a:p>
            <a:r>
              <a:t>  miden por qué cada pieza del bloque está ahí: sin residuales el modelo casi no entrena</a:t>
            </a:r>
          </a:p>
          <a:p>
            <a:r>
              <a:t>  (PR 0.23, −0.59) y sin LayerNorm pierde −0.037 (0/6).</a:t>
            </a:r>
          </a:p>
          <a:p>
            <a:r>
              <a:t>- ¿Transfer learning? (clase 3) Las tres técnicas, con nuestros checkpoints: *feature</a:t>
            </a:r>
          </a:p>
          <a:p>
            <a:r>
              <a:t>  extraction* — tronco del campeón congelado + cabeza lineal nueva empata o gana en 6/6</a:t>
            </a:r>
          </a:p>
          <a:p>
            <a:r>
              <a:t>  (la representación es linealmente separable; todo el valor está en el tronco); el mismo probe</a:t>
            </a:r>
          </a:p>
          <a:p>
            <a:r>
              <a:t>  sobre un tronco pre-entrenado SOLO con MLM (sin labels) da 0.16 — el self-supervised puro no</a:t>
            </a:r>
          </a:p>
          <a:p>
            <a:r>
              <a:t>  captura la tarea en 10k filas, su valor era como inicialización; *fine-tuning anclado* (L2-SP,</a:t>
            </a:r>
          </a:p>
          <a:p>
            <a:r>
              <a:t>  la "KL penalty") no ayuda — no hay pre-entrenado fuerte que retener; *knowledge distillation* —</a:t>
            </a:r>
          </a:p>
          <a:p>
            <a:r>
              <a:t>  entrenar contra las probabilidades del deep-ensemble (0.833) converge más rápido (47 vs 64</a:t>
            </a:r>
          </a:p>
          <a:p>
            <a:r>
              <a:t>  épocas) y su mejor fruto es la compresión: medimos la curva completa "PR vs parámetros" en</a:t>
            </a:r>
          </a:p>
          <a:p>
            <a:r>
              <a:t>  dos ramas (353 → 26.177, figura curva_compresion.png) y las soft labels corren el piso</a:t>
            </a:r>
          </a:p>
          <a:p>
            <a:r>
              <a:t>  un nivel — el nivel campeón aguanta hasta 1.937 parámetros destilando (0.8282, +0.014 sobre</a:t>
            </a:r>
          </a:p>
          <a:p>
            <a:r>
              <a:t>  plain, 5/6; 13× menos que el campeón), a 353 params ambas ramas caen juntas (no hay dónde</a:t>
            </a:r>
          </a:p>
          <a:p>
            <a:r>
              <a:t>  guardar el conocimiento). El ensemble sigue siendo la única forma medida de llegar a 0.834.</a:t>
            </a:r>
          </a:p>
          <a:p>
            <a:r>
              <a:t>- ¿Y transfer desde un preentrenado DE VERDAD? (BERT/MiniLM) Probado (8ª tanda, figura</a:t>
            </a:r>
          </a:p>
          <a:p>
            <a:r>
              <a:t>  bert_transfer.png): MiniLM (22M params) embebe title+description y entra como UN token</a:t>
            </a:r>
          </a:p>
          <a:p>
            <a:r>
              <a:t>  extra del transformer propio, congelado vs fine-tuneado. Congelado RESTA en todos lados</a:t>
            </a:r>
          </a:p>
          <a:p>
            <a:r>
              <a:t>  (solo, 0.567, pierde hasta con la logística cruda 0.660): la partición de tiers es</a:t>
            </a:r>
          </a:p>
          <a:p>
            <a:r>
              <a:t>  *anti-semántica* — "Highly Rated" suena igual que "Top Rated" y compra 50× menos, y la</a:t>
            </a:r>
          </a:p>
          <a:p>
            <a:r>
              <a:t>  geometría preentrenada acerca justo lo que hay que separar. El fine-tuning la repara (6/6</a:t>
            </a:r>
          </a:p>
          <a:p>
            <a:r>
              <a:t>  en ambos pares): sin el regex, el encoder fine-tuneado lee el status desde el texto crudo</a:t>
            </a:r>
          </a:p>
          <a:p>
            <a:r>
              <a:t>  mejor que nuestros encoders entrenados de cero (0.798 vs tower 0.775 / hybrid 0.735) — la</a:t>
            </a:r>
          </a:p>
          <a:p>
            <a:r>
              <a:t>  promesa de la clase 3 cumplida donde tenía margen. Y sin status en el texto, MiniLM confirma</a:t>
            </a:r>
          </a:p>
          <a:p>
            <a:r>
              <a:t>  el EDA: 0.128 ≈ azar (quinta vindicación). Nada supera 0.824: cuando la señal se puede</a:t>
            </a:r>
          </a:p>
          <a:p>
            <a:r>
              <a:t>  extraer limpia (regex + categórica), extraerla vale más que 22M de parámetros.</a:t>
            </a:r>
          </a:p>
          <a:p>
            <a:r>
              <a:t>- ¿Y las herramientas de SIA? (Kohonen, PCA, autoencoders) Medidas (6ª tanda): la celda BMU</a:t>
            </a:r>
          </a:p>
          <a:p>
            <a:r>
              <a:t>  de un SOM como feature extra RESTA (−0.017; el mapa organiza las numéricas pero el BTR por</a:t>
            </a:r>
          </a:p>
          <a:p>
            <a:r>
              <a:t>  celda queda en 0.09–0.20 alrededor de la base 0.13 — la señal vive en el status, figura</a:t>
            </a:r>
          </a:p>
          <a:p>
            <a:r>
              <a:t>  som_btr.png); el AE como pre-training del tronco replica el patrón del MLM (algo en</a:t>
            </a:r>
          </a:p>
          <a:p>
            <a:r>
              <a:t>  embeddings, nada sobre ordinal); y comprimir la entrada a 16 dims con PCA o AE ANTES de mirar</a:t>
            </a:r>
          </a:p>
          <a:p>
            <a:r>
              <a:t>  el target destruye la señal (PR 0.20–0.23 vs 0.75 end-to-end): la representación óptima para</a:t>
            </a:r>
          </a:p>
          <a:p>
            <a:r>
              <a:t>  reconstruir no es la óptima para predecir — la lección de representation learning, medida.</a:t>
            </a:r>
          </a:p>
          <a:p>
            <a:r>
              <a:t>- ¿Hicieron matriz de correlación / relación con el target / PCA del dataset? Sí — matriz</a:t>
            </a:r>
          </a:p>
          <a:p>
            <a:r>
              <a:t>  de asociación mixta (|Spearman| numéricas, V de Cramér categóricas, η cruzadas) + PCA 2D:</a:t>
            </a:r>
          </a:p>
          <a:p>
            <a:r>
              <a:t>  graficos/matriz_asociacion.png (análisis §14). La fila del target: status 0.75, todo lo</a:t>
            </a:r>
          </a:p>
          <a:p>
            <a:r>
              <a:t>  demás &lt;0.09 (converge con permutación y atención). Los bloques de redundancia (unit↔pkg_unit</a:t>
            </a:r>
          </a:p>
          <a:p>
            <a:r>
              <a:t>  1.00, category↔filtros 0.95–0.99, price↔price_rel 0.80) son los descartes de propuesta §2.6,</a:t>
            </a:r>
          </a:p>
          <a:p>
            <a:r>
              <a:t>  verificados luego con feat_extras. El PCA no separa las clases (la señal no vive en la</a:t>
            </a:r>
          </a:p>
          <a:p>
            <a:r>
              <a:t>  varianza — coherente con sia_pca_mlp). Salvedad honesta: la U invertida del precio es</a:t>
            </a:r>
          </a:p>
          <a:p>
            <a:r>
              <a:t>  invisible para medidas monótonas; por eso el EDA fue por variable, y la matriz lo confirma</a:t>
            </a:r>
          </a:p>
          <a:p>
            <a:r>
              <a:t>  sin reemplazarlo. Y "(Best Seller)" del título ya era feature desde el día 1 (listing_status).</a:t>
            </a:r>
          </a:p>
          <a:p>
            <a:r>
              <a:t>- ¿Cuántas corridas hay detrás? 838 (116 configuraciones × 6 seeds + grillas), todas con las</a:t>
            </a:r>
          </a:p>
          <a:p>
            <a:r>
              <a:t>  16 métricas por época, reproducibles con la suite del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1" descr="01 · TP1 · 73.69 LARGE LANGUAGE MODE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2" descr="02 · EL PROBLEMA · FORMULACIÓ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3" descr="03 · EDA · 1 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4" descr="04 · EDA · 2 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5" descr="05 · FEATURES Y PREPROCESAMIEN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6" descr="06 · LA DISCUSIÓN CONCEPTU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7" descr="07 · MÉTRICAS Y PROTOCOL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8" descr="08 · ARQUITECTURA · DÓNDE VA EL TRANSFORMER Y POR QUÉ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09" descr="09 · ALTERNATIVAS CONSIDERAD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0" descr="10 · BASELI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1" descr="11 · EXPERIMENTO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2" descr="12 · EXPERIMENTO 2 · CABEZ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3" descr="13 · EXPERIMENTO 3 · BLOQU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4" descr="14 · EXPERIMENTO 4 · D_MODE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5" descr="15 · EXPERIMENTO 5 · EL DECISIV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6" descr="16 · EXPERIMENTO 6 · INIT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7" descr="17 · EXPERIMENTO 7 · TEX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8" descr="18 · DESAFÍOS ENCONTRADO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19" descr="19 · EL MODELO FIN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20" descr="20 · ROBUSTEZ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21" descr="21 · INTERPRETABILIDA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22" descr="22 · EJERCICIO 3 · TEÓRIC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23" descr="23 · CONCLUSION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iapo 24" descr="24 · APÉNDICE · BACKUP (NO SE PRESENTA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Predicción de Buy Through Rate con Transformers</dc:title>
  <dc:subject>TP1 · 73.69 Large Language Models</dc:subject>
  <dc:creator>Fer Rossi · Junior Rambau · Matias Rossi Seifert · Juan Bautista Albertoni Salini</dc:creator>
  <cp:keywords/>
  <dc:description>generated using python-pptx</dc:description>
  <cp:lastModifiedBy>Fer Rossi · Junior Rambau · Matias Rossi Seifert · Juan Bautista Albertoni Salini</cp:lastModifiedBy>
  <cp:revision>1</cp:revision>
  <dcterms:created xsi:type="dcterms:W3CDTF">2013-01-27T09:14:16Z</dcterms:created>
  <dcterms:modified xsi:type="dcterms:W3CDTF">2013-01-27T09:15:58Z</dcterms:modified>
  <cp:category/>
</cp:coreProperties>
</file>