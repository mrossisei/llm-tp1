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Guión de la presentación — TP1: Predicción de BTR con Transformers</a:t>
            </a:r>
          </a:p>
          <a:p/>
          <a:p>
            <a:r>
              <a:t>Duración medida: ~32 min de habla pura, ~36 min con pausas y transiciones. El rango pedido</a:t>
            </a:r>
          </a:p>
          <a:p>
            <a:r>
              <a:t>es 25–30, así que hay que recortar — abajo está la ruta corta. Está escrito para decir en</a:t>
            </a:r>
          </a:p>
          <a:p>
            <a:r>
              <a:t>voz alta, no para leer: frases cortas, sin subordinadas largas, con los tecnicismos justos. Lo</a:t>
            </a:r>
          </a:p>
          <a:p>
            <a:r>
              <a:t>que no está acá va en el apéndice de preguntas, al final.</a:t>
            </a:r>
          </a:p>
          <a:p/>
          <a:p>
            <a:r>
              <a:t>El mazo tiene 29 pantallas, todas se presentan — incluidas 4 divisorias de sección y el</a:t>
            </a:r>
          </a:p>
          <a:p>
            <a:r>
              <a:t>cierre. El apéndice de preguntas de este archivo no tiene diapositiva: es solo para responder.</a:t>
            </a:r>
          </a:p>
          <a:p/>
          <a:p>
            <a:r>
              <a:t>La presentación es presentacion.html (navegador, flechas ← →; imprimir a PDF si Campus pide</a:t>
            </a:r>
          </a:p>
          <a:p>
            <a:r>
              <a:t>archivo). presentacion.pptx es la misma, con este guión como notas del orador.</a:t>
            </a:r>
          </a:p>
          <a:p/>
          <a:p>
            <a:r>
              <a:t>Cada sección indica [tiempo], el texto hablado, y → en pantalla qué señalar.</a:t>
            </a:r>
          </a:p>
          <a:p/>
          <a:p>
            <a:r>
              <a:t>Ruta corta — para entrar en 28 minutos</a:t>
            </a:r>
          </a:p>
          <a:p/>
          <a:p>
            <a:r>
              <a:t>Estás en ~33 min de habla · ~37 con pausas. Hay que sacar unos 7 min. Recortá en este orden:</a:t>
            </a:r>
          </a:p>
          <a:p/>
          <a:p>
            <a:r>
              <a:t>Lo que no se toca nunca — por rubro o por peso propio: la 5 (el hallazgo del sufijo), la 10</a:t>
            </a:r>
          </a:p>
          <a:p>
            <a:r>
              <a:t>(la arquitectura), la 18 (el encoding, el experimento decisivo), la 21 (desafíos: el enunciado la</a:t>
            </a:r>
          </a:p>
          <a:p>
            <a:r>
              <a:t>pide como punto propio de la presentación), la 25 (overfitting/underfitting: la pide el ejercicio</a:t>
            </a:r>
          </a:p>
          <a:p>
            <a:r>
              <a:t>2.3) y la 27 (el ejercicio teórico de personalización).</a:t>
            </a:r>
          </a:p>
          <a:p/>
          <a:p>
            <a:r>
              <a:t>La 19 (inits) es el primer recorte porque no responde a ningún punto del enunciado: es un eje</a:t>
            </a:r>
          </a:p>
          <a:p>
            <a:r>
              <a:t>secundario con resultado negativo. Si la salteás, decilo en una frase dentro de la 21 —</a:t>
            </a:r>
          </a:p>
          <a:p>
            <a:r>
              <a:t>«pre-entrenar tampoco aportó» — y listo.</a:t>
            </a:r>
          </a:p>
          <a:p/>
          <a:p>
            <a:r>
              <a:t>1 · Portada — [30 s]</a:t>
            </a:r>
          </a:p>
          <a:p/>
          <a:p>
            <a:r>
              <a:t>"Buenas. Vamos a presentar el TP1: predicción de Buy Through Rate en un e-commerce de</a:t>
            </a:r>
          </a:p>
          <a:p>
            <a:r>
              <a:t>supermercado, usando Transformers.</a:t>
            </a:r>
          </a:p>
          <a:p/>
          <a:p>
            <a:r>
              <a:t>Lo vamos a contar en cuatro partes. Primero el problema: qué predecimos y qué encontramos en</a:t>
            </a:r>
          </a:p>
          <a:p>
            <a:r>
              <a:t>los datos. Después el modelo, dónde metimos el transformer y por qué ahí. Tercero los</a:t>
            </a:r>
          </a:p>
          <a:p>
            <a:r>
              <a:t>experimentos, que es donde decidimos cada pieza midiendo. Y al final los resultados, con el</a:t>
            </a:r>
          </a:p>
          <a:p>
            <a:r>
              <a:t>ejercicio teórico de personalización."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· Divisoria — El problema — [5 s]</a:t>
            </a:r>
          </a:p>
          <a:p/>
          <a:p>
            <a:r>
              <a:t>"El problema."</a:t>
            </a:r>
          </a:p>
          <a:p/>
          <a:p>
            <a:r>
              <a:t>→ en pantalla: pantalla oscura, número grande, «qué predecimos, con qué datos, y cómo lo medimos».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· El problema y la formulación — [1.3 min]</a:t>
            </a:r>
          </a:p>
          <a:p/>
          <a:p>
            <a:r>
              <a:t>"Primero: qué es el BTR.</a:t>
            </a:r>
          </a:p>
          <a:p/>
          <a:p>
            <a:r>
              <a:t>Es compras sobre impresiones. De todas las veces que mostramos un producto, cuántas terminaron</a:t>
            </a:r>
          </a:p>
          <a:p>
            <a:r>
              <a:t>en compra. Es una métrica de negocio — sirve para decidir qué promocionar.</a:t>
            </a:r>
          </a:p>
          <a:p/>
          <a:p>
            <a:r>
              <a:t>Lo primero que tuvimos que decidir fue qué predice el modelo exactamente. Y no es obvio,</a:t>
            </a:r>
          </a:p>
          <a:p>
            <a:r>
              <a:t>porque el dataset no es una lista de productos. Es un registro de eventos: cada fila es un</a:t>
            </a:r>
          </a:p>
          <a:p>
            <a:r>
              <a:t>producto que apareció en una búsqueda. El mismo producto puede estar en varias búsquedas, y</a:t>
            </a:r>
          </a:p>
          <a:p>
            <a:r>
              <a:t>cada vez es una fila distinta.</a:t>
            </a:r>
          </a:p>
          <a:p/>
          <a:p>
            <a:r>
              <a:t>Así que lo planteamos así: el modelo mira una impresión y dice qué probabilidad hay de que</a:t>
            </a:r>
          </a:p>
          <a:p>
            <a:r>
              <a:t>la compren.</a:t>
            </a:r>
          </a:p>
          <a:p/>
          <a:p>
            <a:r>
              <a:t>*(señalando el diagrama)* Fila del CSV, entra al modelo, sale una probabilidad. Y si querés el</a:t>
            </a:r>
          </a:p>
          <a:p>
            <a:r>
              <a:t>BTR de un producto, promediás las probabilidades de todas sus impresiones. Eso te da el ranking.</a:t>
            </a:r>
          </a:p>
          <a:p/>
          <a:p>
            <a:r>
              <a:t>Esto trae dos consecuencias que van a volver más adelante. Una: las métricas tienen que ser de</a:t>
            </a:r>
          </a:p>
          <a:p>
            <a:r>
              <a:t>clasificación, fila por fila. Nada de accuracy — ya vamos a ver por qué. Y dos, esta es</a:t>
            </a:r>
          </a:p>
          <a:p>
            <a:r>
              <a:t>importante: no elegimos ningún umbral. Nunca decimos 'si pasa de 0.5, lo compran'. Solo</a:t>
            </a:r>
          </a:p>
          <a:p>
            <a:r>
              <a:t>ordenamos."</a:t>
            </a:r>
          </a:p>
          <a:p/>
          <a:p>
            <a:r>
              <a:t>→ en pantalla: el flujo fila → p → agregación.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· EDA (1): la estructura y la primera trampa — [1.4 min]</a:t>
            </a:r>
          </a:p>
          <a:p/>
          <a:p>
            <a:r>
              <a:t>"Vamos a los datos.</a:t>
            </a:r>
          </a:p>
          <a:p/>
          <a:p>
            <a:r>
              <a:t>Diez mil impresiones, repartidas en dos mil búsquedas de entre uno y ocho productos. Trece por</a:t>
            </a:r>
          </a:p>
          <a:p>
            <a:r>
              <a:t>ciento de compras. Y los filtros de la búsqueda son constantes dentro de cada query — o sea,</a:t>
            </a:r>
          </a:p>
          <a:p>
            <a:r>
              <a:t>son contexto de la búsqueda, no del producto. Verificamos que el cien por ciento de los</a:t>
            </a:r>
          </a:p>
          <a:p>
            <a:r>
              <a:t>productos mostrados cumple su filtro, así que filter_category y filter_storage_type no</a:t>
            </a:r>
          </a:p>
          <a:p>
            <a:r>
              <a:t>aportan nada a nivel fila.</a:t>
            </a:r>
          </a:p>
          <a:p/>
          <a:p>
            <a:r>
              <a:t>Ahora, la primera trampa. Y esta es importante.</a:t>
            </a:r>
          </a:p>
          <a:p/>
          <a:p>
            <a:r>
              <a:t>*(señalando el panel rojo)* La columna cart. Si un producto se compró, siempre estuvo en</a:t>
            </a:r>
          </a:p>
          <a:p>
            <a:r>
              <a:t>el carrito. Cien por ciento de las filas, sin excepción.</a:t>
            </a:r>
          </a:p>
          <a:p/>
          <a:p>
            <a:r>
              <a:t>Eso parece una feature buenísima, y de hecho lo es — pero es trampa. cart es parte del mismo</a:t>
            </a:r>
          </a:p>
          <a:p>
            <a:r>
              <a:t>embudo: impresión, carrito, compra. Es un resultado del evento, no algo que sepamos cuando</a:t>
            </a:r>
          </a:p>
          <a:p>
            <a:r>
              <a:t>tenemos que decidir qué promocionar. En producción esa columna llega vacía.</a:t>
            </a:r>
          </a:p>
          <a:p/>
          <a:p>
            <a:r>
              <a:t>Y es peor que eso: si el carrito está en falso, la compra es cero. Siempre. Así que el setenta</a:t>
            </a:r>
          </a:p>
          <a:p>
            <a:r>
              <a:t>por ciento del dataset queda resuelto de una. El modelo aprendería a mirar solo eso.</a:t>
            </a:r>
          </a:p>
          <a:p/>
          <a:p>
            <a:r>
              <a:t>Entonces cart queda afuera. Más adelante la usamos de otra forma — como etiqueta auxiliar,</a:t>
            </a:r>
          </a:p>
          <a:p>
            <a:r>
              <a:t>que no es leakage porque el modelo la predice en vez de recibirla — pero tampoco aportó."</a:t>
            </a:r>
          </a:p>
          <a:p/>
          <a:p>
            <a:r>
              <a:t>→ en pantalla: la tabla de estructura y el panel rojo del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· EDA (2): la señal está escondida en el texto — [2.0 min]</a:t>
            </a:r>
          </a:p>
          <a:p/>
          <a:p>
            <a:r>
              <a:t>"Este es el hallazgo central del trabajo.</a:t>
            </a:r>
          </a:p>
          <a:p/>
          <a:p>
            <a:r>
              <a:t>Miramos los títulos de los productos y notamos que terminan con algo entre paréntesis. 'Best</a:t>
            </a:r>
          </a:p>
          <a:p>
            <a:r>
              <a:t>Seller'. 'Top Rated'. 'New Listing'. Pasa en el noventa y cinco por ciento de las filas. No era</a:t>
            </a:r>
          </a:p>
          <a:p>
            <a:r>
              <a:t>una columna: había que sacarlo del texto con una expresión regular.</a:t>
            </a:r>
          </a:p>
          <a:p/>
          <a:p>
            <a:r>
              <a:t>Y cuando lo separamos, aparece esto.</a:t>
            </a:r>
          </a:p>
          <a:p/>
          <a:p>
            <a:r>
              <a:t>*(señalando la tabla)* Hay veinte sufijos distintos, y se parten en tres grupos limpios. Cuatro</a:t>
            </a:r>
          </a:p>
          <a:p>
            <a:r>
              <a:t>compran entre el sesenta y tres y el sesenta y ocho por ciento. Otros cuatro compran entre el</a:t>
            </a:r>
          </a:p>
          <a:p>
            <a:r>
              <a:t>dos y el cuatro. Y los once restantes, más los que no tienen sufijo: cero exacto. Ninguna</a:t>
            </a:r>
          </a:p>
          <a:p>
            <a:r>
              <a:t>compra.</a:t>
            </a:r>
          </a:p>
          <a:p/>
          <a:p>
            <a:r>
              <a:t>Esa sola columna parte el dataset al medio.</a:t>
            </a:r>
          </a:p>
          <a:p/>
          <a:p>
            <a:r>
              <a:t>Pero acá está lo que más nos sorprendió: no es cuestión de sentimiento. 'Highly Rated'</a:t>
            </a:r>
          </a:p>
          <a:p>
            <a:r>
              <a:t>suena tan bien como 'Top Rated', y compra cincuenta veces menos. Si hubiéramos ordenado los</a:t>
            </a:r>
          </a:p>
          <a:p>
            <a:r>
              <a:t>niveles a ojo, por lo que parecen significar, nos equivocábamos feo. Hay que aprender la</a:t>
            </a:r>
          </a:p>
          <a:p>
            <a:r>
              <a:t>partición exacta de los datos, no la valencia de las palabras. Esto vuelve en la diapositiva</a:t>
            </a:r>
          </a:p>
          <a:p>
            <a:r>
              <a:t>de codificación, que es el experimento decisivo.</a:t>
            </a:r>
          </a:p>
          <a:p/>
          <a:p>
            <a:r>
              <a:t>*(señalando las tarjetas de la derecha)* Tres cosas más del EDA.</a:t>
            </a:r>
          </a:p>
          <a:p/>
          <a:p>
            <a:r>
              <a:t>El precio tiene efecto de U invertida dentro del rango que filtró el usuario: se compra más</a:t>
            </a:r>
          </a:p>
          <a:p>
            <a:r>
              <a:t>en el medio que en los extremos. Y está condicionado al tier. Por eso derivamos price_rel, la</a:t>
            </a:r>
          </a:p>
          <a:p>
            <a:r>
              <a:t>posición del precio dentro del rango — que es una señal relacional entre el producto y la</a:t>
            </a:r>
          </a:p>
          <a:p>
            <a:r>
              <a:t>búsqueda.</a:t>
            </a:r>
          </a:p>
          <a:p/>
          <a:p>
            <a:r>
              <a:t>Los timestamps están rotos: dentro de una misma búsqueda hay eventos separados por hasta</a:t>
            </a:r>
          </a:p>
          <a:p>
            <a:r>
              <a:t>dos años. Es imposible. Así que ni split temporal ni features de tiempo. Después lo verificamos:</a:t>
            </a:r>
          </a:p>
          <a:p>
            <a:r>
              <a:t>agregar hora y día empeora.</a:t>
            </a:r>
          </a:p>
          <a:p/>
          <a:p>
            <a:r>
              <a:t>Y hay redundancias: el tamaño del envase es el peso, las dimensiones son el envase, la</a:t>
            </a:r>
          </a:p>
          <a:p>
            <a:r>
              <a:t>descripción repite el sufijo."</a:t>
            </a:r>
          </a:p>
          <a:p/>
          <a:p>
            <a:r>
              <a:t>→ en pantalla: la tabla de tiers, y las tres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· Features y preprocesamiento — [1.5 min]</a:t>
            </a:r>
          </a:p>
          <a:p/>
          <a:p>
            <a:r>
              <a:t>"Con ese EDA, esto es lo que entra al modelo.</a:t>
            </a:r>
          </a:p>
          <a:p/>
          <a:p>
            <a:r>
              <a:t>Siete columnas categóricas y seis numéricas. Trece en total.</a:t>
            </a:r>
          </a:p>
          <a:p/>
          <a:p>
            <a:r>
              <a:t>Dos de ellas las derivamos nosotros. listing_status, que es el sufijo del título que acabamos</a:t>
            </a:r>
          </a:p>
          <a:p>
            <a:r>
              <a:t>de ver. Y price_rel, la posición del precio en el rango filtrado. Ninguna de las dos venía en</a:t>
            </a:r>
          </a:p>
          <a:p>
            <a:r>
              <a:t>el CSV.</a:t>
            </a:r>
          </a:p>
          <a:p/>
          <a:p>
            <a:r>
              <a:t>El preprocesamiento va por tipo. *(señalando el encabezado de cada panel)* Las numéricas van</a:t>
            </a:r>
          </a:p>
          <a:p>
            <a:r>
              <a:t>a media cero — z-score, con logaritmo antes en las dos que están sesgadas, precio y peso. Y las</a:t>
            </a:r>
          </a:p>
          <a:p>
            <a:r>
              <a:t>categóricas, cada nivel a un número. Ahí nos detuvimos, porque el enunciado sugería investigar</a:t>
            </a:r>
          </a:p>
          <a:p>
            <a:r>
              <a:t>one-hot y alternativas. Le dedicamos un experimento entero, es la diapositiva dieciocho.</a:t>
            </a:r>
          </a:p>
          <a:p/>
          <a:p>
            <a:r>
              <a:t>Un punto que nos importa: todo se ajusta solo con train. Los vocabularios, los promedios,</a:t>
            </a:r>
          </a:p>
          <a:p>
            <a:r>
              <a:t>las tablas de codificación. Si los calculáramos con todo el dataset estaríamos filtrando</a:t>
            </a:r>
          </a:p>
          <a:p>
            <a:r>
              <a:t>información de test. Y los niveles que aparecen en test y no estaban en train van a un valor</a:t>
            </a:r>
          </a:p>
          <a:p>
            <a:r>
              <a:t>especial de 'desconocido'.</a:t>
            </a:r>
          </a:p>
          <a:p/>
          <a:p>
            <a:r>
              <a:t>*(señalando el panel de abajo)* Y lo que queda afuera. Cada etiqueta roja dice por qué:</a:t>
            </a:r>
          </a:p>
          <a:p>
            <a:r>
              <a:t>cart es leakage, query_id solo sirve para partir, el timestamp está roto, los dos filtros</a:t>
            </a:r>
          </a:p>
          <a:p>
            <a:r>
              <a:t>son constantes dentro de la búsqueda, y las últimas cuatro repiten algo que ya tenemos.</a:t>
            </a:r>
          </a:p>
          <a:p/>
          <a:p>
            <a:r>
              <a:t>Acá hay algo metodológico que queremos remarcar: no descartamos en papel. Cada descarte lo</a:t>
            </a:r>
          </a:p>
          <a:p>
            <a:r>
              <a:t>volvimos a meter y medimos. Todos dieron diferencia cero."</a:t>
            </a:r>
          </a:p>
          <a:p/>
          <a:p>
            <a:r>
              <a:t>→ en pantalla: los dos paneles de arriba con las trece features en pastillas — las dos verdes</a:t>
            </a:r>
          </a:p>
          <a:p>
            <a:r>
              <a:t>son las que derivamos — y abajo el panel rojo de descartes.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· ¿Es válido usar "Best Seller"? — [1.5 min]</a:t>
            </a:r>
          </a:p>
          <a:p/>
          <a:p>
            <a:r>
              <a:t>"Acá tuvimos una discusión en el equipo que vale la pena contar.</a:t>
            </a:r>
          </a:p>
          <a:p/>
          <a:p>
            <a:r>
              <a:t>Esos badges se asignan después de que un producto vendió mucho. Entonces, ¿no es circular</a:t>
            </a:r>
          </a:p>
          <a:p>
            <a:r>
              <a:t>usarlos para predecir ventas?</a:t>
            </a:r>
          </a:p>
          <a:p/>
          <a:p>
            <a:r>
              <a:t>Lo resolvimos separando tres tipos de información.</a:t>
            </a:r>
          </a:p>
          <a:p/>
          <a:p>
            <a:r>
              <a:t>Uno: resultado del mismo evento. Eso es cart. Leakage estricto, nunca se usa.</a:t>
            </a:r>
          </a:p>
          <a:p/>
          <a:p>
            <a:r>
              <a:t>Dos: estado del producto al momento de mostrarlo. Los badges están acá. Cuando el buscador</a:t>
            </a:r>
          </a:p>
          <a:p>
            <a:r>
              <a:t>arma la página, el badge ya existe — está disponible. Y además es plausiblemente causal: la</a:t>
            </a:r>
          </a:p>
          <a:p>
            <a:r>
              <a:t>gente compra más lo que tiene prueba social. Así que es válido para predecir. Pero sí es</a:t>
            </a:r>
          </a:p>
          <a:p>
            <a:r>
              <a:t>circular para decidir promociones, y es ciego al producto nuevo que todavía no tiene badge.</a:t>
            </a:r>
          </a:p>
          <a:p/>
          <a:p>
            <a:r>
              <a:t>Tres: atributos intrínsecos, marca, peso, categoría. Válidos siempre.</a:t>
            </a:r>
          </a:p>
          <a:p/>
          <a:p>
            <a:r>
              <a:t>Entonces entrenamos dos familias de modelos. Una con estado, que responde 'qué promociono</a:t>
            </a:r>
          </a:p>
          <a:p>
            <a:r>
              <a:t>hoy'. Y otra sin estado, ni parseado ni escondido en el texto, que responde 'qué esperar de un</a:t>
            </a:r>
          </a:p>
          <a:p>
            <a:r>
              <a:t>producto nuevo'.</a:t>
            </a:r>
          </a:p>
          <a:p/>
          <a:p>
            <a:r>
              <a:t>*(señalando las tarjetas)* Y el resultado encuadra todo el trabajo. Con estado llegamos a</a:t>
            </a:r>
          </a:p>
          <a:p>
            <a:r>
              <a:t>ochenta y dos. Sin estado, nadie pasa de dieciséis. Ni el GBM, ni nada.</a:t>
            </a:r>
          </a:p>
          <a:p/>
          <a:p>
            <a:r>
              <a:t>Y eso no es un problema del modelo. Es un hallazgo sobre el dataset: el sesenta y un por ciento</a:t>
            </a:r>
          </a:p>
          <a:p>
            <a:r>
              <a:t>de las filas vive en tiers donde el BTR es cero exacto. Sin esa columna, no hay nada que</a:t>
            </a:r>
          </a:p>
          <a:p>
            <a:r>
              <a:t>aprender."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· Métricas y protocolo — [2.0 min]</a:t>
            </a:r>
          </a:p>
          <a:p/>
          <a:p>
            <a:r>
              <a:t>"Cómo medimos.</a:t>
            </a:r>
          </a:p>
          <a:p/>
          <a:p>
            <a:r>
              <a:t>Con trece por ciento de positivos, el accuracy no sirve. Un modelo que diga 'nadie compra nada'</a:t>
            </a:r>
          </a:p>
          <a:p>
            <a:r>
              <a:t>acierta el ochenta y siete por ciento y no encuentra un solo comprador.</a:t>
            </a:r>
          </a:p>
          <a:p/>
          <a:p>
            <a:r>
              <a:t>Así que la métrica principal es PR-AUC — precisión y recall — que es la que sugiere el</a:t>
            </a:r>
          </a:p>
          <a:p>
            <a:r>
              <a:t>enunciado. Mide qué tan bien el modelo ordena, sin tener que elegir ningún umbral. Y el</a:t>
            </a:r>
          </a:p>
          <a:p>
            <a:r>
              <a:t>piso no es cero coma cinco: es la tasa de compra, cero coma ciento treinta y uno. Contra eso</a:t>
            </a:r>
          </a:p>
          <a:p>
            <a:r>
              <a:t>comparamos siempre.</a:t>
            </a:r>
          </a:p>
          <a:p/>
          <a:p>
            <a:r>
              <a:t>Aparte reportamos ROC-AUC, y guardamos log-loss y Brier para ver la calidad de las</a:t>
            </a:r>
          </a:p>
          <a:p>
            <a:r>
              <a:t>probabilidades.</a:t>
            </a:r>
          </a:p>
          <a:p/>
          <a:p>
            <a:r>
              <a:t>Sin umbral, como dijimos. Aunque igual lo medimos: el F1 máximo cae en cero cuarenta, no en cero</a:t>
            </a:r>
          </a:p>
          <a:p>
            <a:r>
              <a:t>cinco. O sea que cualquier umbral fijo hubiera sido arbitrario.</a:t>
            </a:r>
          </a:p>
          <a:p/>
          <a:p>
            <a:r>
              <a:t>Guardamos dieciséis métricas por época en cada corrida. Eso nos deja ver overfitting y</a:t>
            </a:r>
          </a:p>
          <a:p>
            <a:r>
              <a:t>underfitting en las curvas de train y validación, para todas las corridas.</a:t>
            </a:r>
          </a:p>
          <a:p/>
          <a:p>
            <a:r>
              <a:t>*(pasando al panel de la derecha)* Y cómo particionamos.</a:t>
            </a:r>
          </a:p>
          <a:p/>
          <a:p>
            <a:r>
              <a:t>Por query_id, setenta quince quince. Una búsqueda entera cae del mismo lado. Si partiéramos</a:t>
            </a:r>
          </a:p>
          <a:p>
            <a:r>
              <a:t>fila por fila, productos de la misma página quedarían en train y en test, y estaríamos filtrando</a:t>
            </a:r>
          </a:p>
          <a:p>
            <a:r>
              <a:t>el contexto.</a:t>
            </a:r>
          </a:p>
          <a:p/>
          <a:p>
            <a:r>
              <a:t>¿Por qué no temporal? Timestamps rotos. ¿Por producto? Lo verificamos: el noventa y nueve por</a:t>
            </a:r>
          </a:p>
          <a:p>
            <a:r>
              <a:t>ciento de los títulos son únicos, y si restringimos test a productos nunca vistos las métricas</a:t>
            </a:r>
          </a:p>
          <a:p>
            <a:r>
              <a:t>son idénticas. El modelo no recibe identidad del producto, así que no tiene cómo memorizar.</a:t>
            </a:r>
          </a:p>
          <a:p/>
          <a:p>
            <a:r>
              <a:t>Sobre la varianza: seguimos lo que priorizó la cátedra, que es promediar corridas. Seis</a:t>
            </a:r>
          </a:p>
          <a:p>
            <a:r>
              <a:t>semillas por configuración. Y como cierre igual corrimos validación cruzada, cinco por seis:</a:t>
            </a:r>
          </a:p>
          <a:p>
            <a:r>
              <a:t>da cero ochocientos veintiuno con desvío cero cero doce. Consistente.</a:t>
            </a:r>
          </a:p>
          <a:p/>
          <a:p>
            <a:r>
              <a:t>Y una disciplina que mantuvimos todo el trabajo: los hiperparámetros se eligen mirando</a:t>
            </a:r>
          </a:p>
          <a:p>
            <a:r>
              <a:t>validación. Test se reporta al final, y nada más."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· Divisoria — El modelo — [5 s]</a:t>
            </a:r>
          </a:p>
          <a:p/>
          <a:p>
            <a:r>
              <a:t>"El modelo."</a:t>
            </a:r>
          </a:p>
          <a:p/>
          <a:p>
            <a:r>
              <a:t>→ en pantalla: pantalla oscura, número grande, «dónde va el transformer, y por qué ahí».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La arquitectura: dónde va el transformer y por qué — [2.5 min]</a:t>
            </a:r>
          </a:p>
          <a:p/>
          <a:p>
            <a:r>
              <a:t>"La pregunta del enunciado es dónde, cómo y por qué un transformer. Nuestra respuesta sale del</a:t>
            </a:r>
          </a:p>
          <a:p>
            <a:r>
              <a:t>EDA.</a:t>
            </a:r>
          </a:p>
          <a:p/>
          <a:p>
            <a:r>
              <a:t>La señal de este problema es relacional. El precio no importa por sí solo, importa en</a:t>
            </a:r>
          </a:p>
          <a:p>
            <a:r>
              <a:t>relación al rango que filtró el usuario. Y la U del precio está condicionada al tier del</a:t>
            </a:r>
          </a:p>
          <a:p>
            <a:r>
              <a:t>producto. O sea: lo que importa son los cruces entre features.</a:t>
            </a:r>
          </a:p>
          <a:p/>
          <a:p>
            <a:r>
              <a:t>Un modelo lineal necesita que le des esos cruces hechos a mano. La self-attention los computa</a:t>
            </a:r>
          </a:p>
          <a:p>
            <a:r>
              <a:t>sola, de a pares, y aprendidos. Es la generalización de las feature crosses.</a:t>
            </a:r>
          </a:p>
          <a:p/>
          <a:p>
            <a:r>
              <a:t>Por eso elegimos un FT-Transformer: cada feature es un token.</a:t>
            </a:r>
          </a:p>
          <a:p/>
          <a:p>
            <a:r>
              <a:t>Ahora, la pregunta natural: ¿cómo puede la atención comparar un precio con una marca? Y la</a:t>
            </a:r>
          </a:p>
          <a:p>
            <a:r>
              <a:t>respuesta es que no hace falta que los tokens sean del mismo tipo. Hace falta que vivan en el</a:t>
            </a:r>
          </a:p>
          <a:p>
            <a:r>
              <a:t>mismo espacio. Y eso es exactamente lo que hace el tokenizador: cada numérica entra como x</a:t>
            </a:r>
          </a:p>
          <a:p>
            <a:r>
              <a:t>por w más b, cada categórica con su codificación, y las dos salen como vectores del mismo</a:t>
            </a:r>
          </a:p>
          <a:p>
            <a:r>
              <a:t>tamaño. Es el mismo principio por el que en un modelo de lenguaje conviven la palabra 'perro',</a:t>
            </a:r>
          </a:p>
          <a:p>
            <a:r>
              <a:t>una coma y un número.</a:t>
            </a:r>
          </a:p>
          <a:p/>
          <a:p>
            <a:r>
              <a:t>*(recorriendo el diagrama)* De ahí para arriba es un encoder estándar. Usamos los mismos</a:t>
            </a:r>
          </a:p>
          <a:p>
            <a:r>
              <a:t>bloques de la demo de la cátedra: atención multi-cabeza, el MLP interno, bloques pre-LN con</a:t>
            </a:r>
          </a:p>
          <a:p>
            <a:r>
              <a:t>conexiones residuales.</a:t>
            </a:r>
          </a:p>
          <a:p/>
          <a:p>
            <a:r>
              <a:t>Con dos adaptaciones, y las dos justificadas.</a:t>
            </a:r>
          </a:p>
          <a:p/>
          <a:p>
            <a:r>
              <a:t>La primera: sacamos la máscara causal. Esto es clasificar un conjunto, no generar texto. No</a:t>
            </a:r>
          </a:p>
          <a:p>
            <a:r>
              <a:t>hay 'siguiente token' que adivinar. Atención bidireccional, como BERT.</a:t>
            </a:r>
          </a:p>
          <a:p/>
          <a:p>
            <a:r>
              <a:t>La segunda: el escalado por raíz de d_k se hace una vez, como en el paper. La demo lo</a:t>
            </a:r>
          </a:p>
          <a:p>
            <a:r>
              <a:t>aplicaba dos veces, y eso aplana la atención de más.</a:t>
            </a:r>
          </a:p>
          <a:p/>
          <a:p>
            <a:r>
              <a:t>Agregamos un token CLS de lectura. No aporta información: la recolecta. Como atiende a todo</a:t>
            </a:r>
          </a:p>
          <a:p>
            <a:r>
              <a:t>en cada capa, su estado final es el resumen que va al clasificador. Es lo que hace BERT.</a:t>
            </a:r>
          </a:p>
          <a:p/>
          <a:p>
            <a:r>
              <a:t>Y sin positional encoding. Un conjunto de features no tiene orden — el precio no está</a:t>
            </a:r>
          </a:p>
          <a:p>
            <a:r>
              <a:t>'antes' que la marca. La identidad de cada columna ya vive en sus propios parámetros. Eso no lo</a:t>
            </a:r>
          </a:p>
          <a:p>
            <a:r>
              <a:t>asumimos: lo medimos, y agregarlo da diferencia cero.</a:t>
            </a:r>
          </a:p>
          <a:p/>
          <a:p>
            <a:r>
              <a:t>El tamaño arranca donde sugiere el enunciado: d_model treinta y dos, cuatro cabezas, dos</a:t>
            </a:r>
          </a:p>
          <a:p>
            <a:r>
              <a:t>bloques."</a:t>
            </a:r>
          </a:p>
          <a:p/>
          <a:p>
            <a:r>
              <a:t>→ en pantalla: el diagrama completo, del CSV a p(bought).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Alternativas consideradas — y medidas — [1.2 min]</a:t>
            </a:r>
          </a:p>
          <a:p/>
          <a:p>
            <a:r>
              <a:t>"Antes de comprometernos con eso, evaluamos dónde más podía ir el transformer. Porque 'usá</a:t>
            </a:r>
          </a:p>
          <a:p>
            <a:r>
              <a:t>un transformer' no te dice dónde ponerlo.</a:t>
            </a:r>
          </a:p>
          <a:p/>
          <a:p>
            <a:r>
              <a:t>Tres alternativas serias.</a:t>
            </a:r>
          </a:p>
          <a:p/>
          <a:p>
            <a:r>
              <a:t>Una: el texto crudo como tokens. Los caracteres del título y la descripción, que es la demo</a:t>
            </a:r>
          </a:p>
          <a:p>
            <a:r>
              <a:t>literal. La señal está ahí, sin duda. Pero el EDA ya nos mostró que se extrae con una expresión</a:t>
            </a:r>
          </a:p>
          <a:p>
            <a:r>
              <a:t>regular — gastar atención cuadrática sobre doscientos cincuenta y siete tokens para eso es caro.</a:t>
            </a:r>
          </a:p>
          <a:p/>
          <a:p>
            <a:r>
              <a:t>Dos: los productos de la página como tokens. Eso modela la competencia dentro de la</a:t>
            </a:r>
          </a:p>
          <a:p>
            <a:r>
              <a:t>búsqueda. Pero el EDA midió competencia débil: en muchas páginas se compra más de un producto.</a:t>
            </a:r>
          </a:p>
          <a:p/>
          <a:p>
            <a:r>
              <a:t>Tres: el transformer solo como encoder de texto, y un MLP arriba que clasifica. El problema</a:t>
            </a:r>
          </a:p>
          <a:p>
            <a:r>
              <a:t>es que comprime toda la señal a un cuello de botella antes de decidir.</a:t>
            </a:r>
          </a:p>
          <a:p/>
          <a:p>
            <a:r>
              <a:t>Elegimos features-como-tokens de base. Pero no las descartamos en papel: implementamos y</a:t>
            </a:r>
          </a:p>
          <a:p>
            <a:r>
              <a:t>corrimos las tres, más dos variantes. Los resultados les dan la razón a los diagnósticos del</a:t>
            </a:r>
          </a:p>
          <a:p>
            <a:r>
              <a:t>EDA, y los vemos en la diapositiva veinte."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Baselines: la vara — [35 s]</a:t>
            </a:r>
          </a:p>
          <a:p/>
          <a:p>
            <a:r>
              <a:t>"Antes del transformer, armamos una escalera de complejidad. Mismo split, mismas métricas,</a:t>
            </a:r>
          </a:p>
          <a:p>
            <a:r>
              <a:t>mismas seis semillas.</a:t>
            </a:r>
          </a:p>
          <a:p/>
          <a:p>
            <a:r>
              <a:t>Regresión logística: cero seiscientos noventa y ocho. Esa es la vara lineal.</a:t>
            </a:r>
          </a:p>
          <a:p/>
          <a:p>
            <a:r>
              <a:t>Un MLP denso, con exactamente los mismos embeddings de entrada que el transformer: cero</a:t>
            </a:r>
          </a:p>
          <a:p>
            <a:r>
              <a:t>setecientos cuarenta y seis.</a:t>
            </a:r>
          </a:p>
          <a:p/>
          <a:p>
            <a:r>
              <a:t>Y un GBM, que es la vara no lineal fuerte — árboles con interacciones: cero setecientos</a:t>
            </a:r>
          </a:p>
          <a:p>
            <a:r>
              <a:t>sesenta y dos.</a:t>
            </a:r>
          </a:p>
          <a:p/>
          <a:p>
            <a:r>
              <a:t>Y nos pusimos una regla de honestidad: si el transformer no supera esto, la capa de atención</a:t>
            </a:r>
          </a:p>
          <a:p>
            <a:r>
              <a:t>no se justifica."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Divisoria — Los experimentos — [35 s]</a:t>
            </a:r>
          </a:p>
          <a:p/>
          <a:p>
            <a:r>
              <a:t>"Los experimentos. Siete preguntas, y ninguna la contestamos de memoria.</a:t>
            </a:r>
          </a:p>
          <a:p/>
          <a:p>
            <a:r>
              <a:t>Antes de arrancar, la base. *(señalando la lista)* Todo lo que viene mueve un solo eje y</a:t>
            </a:r>
          </a:p>
          <a:p>
            <a:r>
              <a:t>deja el resto quieto: el mismo tamaño de vector por feature, el mismo optimizador, el mismo</a:t>
            </a:r>
          </a:p>
          <a:p>
            <a:r>
              <a:t>batch, la misma paciencia. Y seis semillas en cada configuración.</a:t>
            </a:r>
          </a:p>
          <a:p/>
          <a:p>
            <a:r>
              <a:t>Así, cuando algo cambia, sabemos qué lo cambió.</a:t>
            </a:r>
          </a:p>
          <a:p/>
          <a:p>
            <a:r>
              <a:t>Esa lista de abajo la van a ver repetida al pie de cada experimento, con lo que varía marcado</a:t>
            </a:r>
          </a:p>
          <a:p>
            <a:r>
              <a:t>a la derecha."</a:t>
            </a:r>
          </a:p>
          <a:p/>
          <a:p>
            <a:r>
              <a:t>→ en pantalla: pantalla oscura, el 3 grande, y los diez hiperparámetros con su explicación en</a:t>
            </a:r>
          </a:p>
          <a:p>
            <a:r>
              <a:t>una línea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Experimento 1: ¿la atención aporta? — [1.3 min]</a:t>
            </a:r>
          </a:p>
          <a:p/>
          <a:p>
            <a:r>
              <a:t>"Esta es la comparación central.</a:t>
            </a:r>
          </a:p>
          <a:p/>
          <a:p>
            <a:r>
              <a:t>Transformer contra MLP, con la misma entrada. Los mismos feature-tokens. Lo único que</a:t>
            </a:r>
          </a:p>
          <a:p>
            <a:r>
              <a:t>cambia es qué los mezcla: atención o capas densas. Y apareado por semilla, así que comparamos</a:t>
            </a:r>
          </a:p>
          <a:p>
            <a:r>
              <a:t>corrida contra corrida.</a:t>
            </a:r>
          </a:p>
          <a:p/>
          <a:p>
            <a:r>
              <a:t>Resultado: más cero cero cuarenta y ocho, ganando en cinco de seis semillas. Y el MLP tenía</a:t>
            </a:r>
          </a:p>
          <a:p>
            <a:r>
              <a:t>cuatro veces y media más parámetros. Así que no es cuestión de tamaño.</a:t>
            </a:r>
          </a:p>
          <a:p/>
          <a:p>
            <a:r>
              <a:t>Pero le hicimos dos refinamientos, porque nos parecía una vara fácil.</a:t>
            </a:r>
          </a:p>
          <a:p/>
          <a:p>
            <a:r>
              <a:t>*(señalando la primera tarjeta)* Primero: al MLP le probamos one-hot crudo en vez de</a:t>
            </a:r>
          </a:p>
          <a:p>
            <a:r>
              <a:t>embeddings, y mejoró a cero setecientos noventa y siete. O sea, parte de su déficit era la</a:t>
            </a:r>
          </a:p>
          <a:p>
            <a:r>
              <a:t>entrada, no la arquitectura. Contra el mejor MLP posible, la ventaja del transformer baja a</a:t>
            </a:r>
          </a:p>
          <a:p>
            <a:r>
              <a:t>más cero cero veintisiete. Sigue ganando, pero con la vara más alta.</a:t>
            </a:r>
          </a:p>
          <a:p/>
          <a:p>
            <a:r>
              <a:t>*(segunda tarjeta)* Y segundo: nos preguntamos si la atención no estaría simplemente</a:t>
            </a:r>
          </a:p>
          <a:p>
            <a:r>
              <a:t>descubriendo el cruce precio por tier que ya sabíamos del EDA. Así que se lo dimos a mano a la</a:t>
            </a:r>
          </a:p>
          <a:p>
            <a:r>
              <a:t>logística. Mejora, pero eso explica solo el doce por ciento del gap. La atención aprende</a:t>
            </a:r>
          </a:p>
          <a:p>
            <a:r>
              <a:t>bastante más que esa única interacción."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Experimento 2: ¿cuántas cabezas? — [0.9 min]</a:t>
            </a:r>
          </a:p>
          <a:p/>
          <a:p>
            <a:r>
              <a:t>"Multi-head significa varias consultas en paralelo, cada una en su propio subespacio. La</a:t>
            </a:r>
          </a:p>
          <a:p>
            <a:r>
              <a:t>pregunta era si este problema las necesita, o si hay una sola señal dominante y con una alcanza.</a:t>
            </a:r>
          </a:p>
          <a:p/>
          <a:p>
            <a:r>
              <a:t>Y acá tuvimos una sorpresa metodológica.</a:t>
            </a:r>
          </a:p>
          <a:p/>
          <a:p>
            <a:r>
              <a:t>Con embeddings, una cabeza grande le gana a cuatro chicas: cero ochocientos dieciséis contra</a:t>
            </a:r>
          </a:p>
          <a:p>
            <a:r>
              <a:t>cero setecientos noventa y ocho. Una consulta rica vale más que cuatro pobres — que es</a:t>
            </a:r>
          </a:p>
          <a:p>
            <a:r>
              <a:t>coherente con el EDA, donde hay una señal que manda.</a:t>
            </a:r>
          </a:p>
          <a:p/>
          <a:p>
            <a:r>
              <a:t>Pero sobre la base ordinal, que es la que terminó ganando, cuatro cabezas ganan: cero</a:t>
            </a:r>
          </a:p>
          <a:p>
            <a:r>
              <a:t>ochocientos veinticuatro contra cero ochocientos.</a:t>
            </a:r>
          </a:p>
          <a:p/>
          <a:p>
            <a:r>
              <a:t>O sea: el eje interactúa con la codificación. Y de ahí sacamos una regla para todo el</a:t>
            </a:r>
          </a:p>
          <a:p>
            <a:r>
              <a:t>trabajo: ninguna decisión se hereda de otra base. Cada una se vuelve a decidir por validación</a:t>
            </a:r>
          </a:p>
          <a:p>
            <a:r>
              <a:t>sobre la base final."</a:t>
            </a:r>
          </a:p>
          <a:p/>
          <a:p>
            <a:r>
              <a:t>→ en pantalla: el 4 en verde grande arriba a la derecha, el gráfico a la izquierda, y al</a:t>
            </a:r>
          </a:p>
          <a:p>
            <a:r>
              <a:t>pie la base con «varía · cabezas 1 / 2 / 4» en la pastilla lila.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· Experimento 3: ¿cuánta profundidad? — [35 s]</a:t>
            </a:r>
          </a:p>
          <a:p/>
          <a:p>
            <a:r>
              <a:t>"Más bloques es componer atención sobre atención. Pero con trece features que ya se ven todas</a:t>
            </a:r>
          </a:p>
          <a:p>
            <a:r>
              <a:t>de un salto, la hipótesis era que no hace falta mucha profundidad.</a:t>
            </a:r>
          </a:p>
          <a:p/>
          <a:p>
            <a:r>
              <a:t>Confirmado. Un bloque pierde poco. Dos ganan. Cuatro no suman nada, con el doble de</a:t>
            </a:r>
          </a:p>
          <a:p>
            <a:r>
              <a:t>parámetros.</a:t>
            </a:r>
          </a:p>
          <a:p/>
          <a:p>
            <a:r>
              <a:t>Y esto se conecta con la interpretabilidad, que vemos al final: el CLS ya concentra el setenta y</a:t>
            </a:r>
          </a:p>
          <a:p>
            <a:r>
              <a:t>cinco por ciento de su atención en el estado en la primera capa. No necesita más capas para</a:t>
            </a:r>
          </a:p>
          <a:p>
            <a:r>
              <a:t>encontrar lo que importa."</a:t>
            </a:r>
          </a:p>
          <a:p/>
          <a:p>
            <a:r>
              <a:t>→ en pantalla: el 2 en verde, y al pie «varía · bloques 1 / 2 / 4».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· Experimento 4: ¿qué d_model? — [0.8 min]</a:t>
            </a:r>
          </a:p>
          <a:p/>
          <a:p>
            <a:r>
              <a:t>"Acá la idea era dimensionar el embedding al problema — trece features, diez mil filas — y no</a:t>
            </a:r>
          </a:p>
          <a:p>
            <a:r>
              <a:t>al hábito de los papers, que usan quinientos doce.</a:t>
            </a:r>
          </a:p>
          <a:p/>
          <a:p>
            <a:r>
              <a:t>Lo que encontramos es una meseta amplia. De ocho a sesenta y cuatro, los resultados son</a:t>
            </a:r>
          </a:p>
          <a:p>
            <a:r>
              <a:t>parecidos. La señal cabe en poquísimos parámetros. Treinta y dos se elige por validación, pero</a:t>
            </a:r>
          </a:p>
          <a:p>
            <a:r>
              <a:t>sin mucho margen.</a:t>
            </a:r>
          </a:p>
          <a:p/>
          <a:p>
            <a:r>
              <a:t>Y hay un epílogo fuerte. Un modelo de dieciséis dimensiones con un solo bloque —tres mil</a:t>
            </a:r>
          </a:p>
          <a:p>
            <a:r>
              <a:t>setecientos parámetros— empata al campeón. Y destilando de un ensamble, el nivel campeón</a:t>
            </a:r>
          </a:p>
          <a:p>
            <a:r>
              <a:t>aguanta hasta mil novecientos.</a:t>
            </a:r>
          </a:p>
          <a:p/>
          <a:p>
            <a:r>
              <a:t>Cerrando los tres ejes de capacidad: cabezas, profundidad y dimensión. Ninguno movió mucho la</a:t>
            </a:r>
          </a:p>
          <a:p>
            <a:r>
              <a:t>aguja. El experimento decisivo no era la capacidad. Era la codificación de la entrada."</a:t>
            </a:r>
          </a:p>
          <a:p/>
          <a:p>
            <a:r>
              <a:t>→ en pantalla: el 32 en verde, y al pie «varía · d_model 8 / 16 / 32 / 64».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· Experimento 5: la codificación de las categóricas — [2.2 min]</a:t>
            </a:r>
          </a:p>
          <a:p/>
          <a:p>
            <a:r>
              <a:t>"Y este es el experimento decisivo del trabajo.</a:t>
            </a:r>
          </a:p>
          <a:p/>
          <a:p>
            <a:r>
              <a:t>El enunciado sugería investigar codificaciones, one-hot y alternativas. Implementamos y corrimos</a:t>
            </a:r>
          </a:p>
          <a:p>
            <a:r>
              <a:t>cinco, con todo lo demás fijo.</a:t>
            </a:r>
          </a:p>
          <a:p/>
          <a:p>
            <a:r>
              <a:t>Antes que nada, un resultado teórico que nos ahorró un experimento: one-hot seguido de una</a:t>
            </a:r>
          </a:p>
          <a:p>
            <a:r>
              <a:t>capa lineal aprende exactamente la misma matriz que un embedding. Multiplicar un vector</a:t>
            </a:r>
          </a:p>
          <a:p>
            <a:r>
              <a:t>one-hot por una matriz te devuelve una fila de esa matriz, que es lo que hace el lookup del</a:t>
            </a:r>
          </a:p>
          <a:p>
            <a:r>
              <a:t>embedding. Son el mismo modelo. Así que one-hot solo lo probamos como entrada cruda al MLP.</a:t>
            </a:r>
          </a:p>
          <a:p/>
          <a:p>
            <a:r>
              <a:t>Las que sí probamos: embedding aprendido por columna, que es el estándar. Target</a:t>
            </a:r>
          </a:p>
          <a:p>
            <a:r>
              <a:t>encoding, cada nivel a su BTR promedio suavizado de train. Ordinal, cada nivel a su</a:t>
            </a:r>
          </a:p>
          <a:p>
            <a:r>
              <a:t>rango al ordenar por ese BTR. Frecuencia y hashing.</a:t>
            </a:r>
          </a:p>
          <a:p/>
          <a:p>
            <a:r>
              <a:t>*(señalando el gráfico)* Y acá está la sorpresa: gana el ordinal, cero ochocientos</a:t>
            </a:r>
          </a:p>
          <a:p>
            <a:r>
              <a:t>veinticuatro. Por encima del target, cero ochocientos trece, y bastante por encima del embedding,</a:t>
            </a:r>
          </a:p>
          <a:p>
            <a:r>
              <a:t>cero setecientos noventa y ocho.</a:t>
            </a:r>
          </a:p>
          <a:p/>
          <a:p>
            <a:r>
              <a:t>¿Por qué gana, si el embedding puede aprender cualquier cosa? Justamente por eso. Con diez mil</a:t>
            </a:r>
          </a:p>
          <a:p>
            <a:r>
              <a:t>filas, 'poder aprender cualquier cosa' es sobreajustar. Una marca que aparece doce veces no</a:t>
            </a:r>
          </a:p>
          <a:p>
            <a:r>
              <a:t>alcanza para aprenderle treinta y dos números. El rango le inyecta el orden como prior, con</a:t>
            </a:r>
          </a:p>
          <a:p>
            <a:r>
              <a:t>un solo escalar por nivel.</a:t>
            </a:r>
          </a:p>
          <a:p/>
          <a:p>
            <a:r>
              <a:t>Y le gana al target porque los rangos quedan equiespaciados, mientras que las magnitudes están</a:t>
            </a:r>
          </a:p>
          <a:p>
            <a:r>
              <a:t>apelmazadas: cero sesenta y cinco, cero cero tres, cero exacto. Los rangos están mejor</a:t>
            </a:r>
          </a:p>
          <a:p>
            <a:r>
              <a:t>condicionados.</a:t>
            </a:r>
          </a:p>
          <a:p/>
          <a:p>
            <a:r>
              <a:t>Los dos que fallan calibran la regla. Frecuencia da cero veintidós — codifica qué tan común</a:t>
            </a:r>
          </a:p>
          <a:p>
            <a:r>
              <a:t>es un nivel, y eso no tiene nada que ver con comprarlo. Hashing da cero cincuenta — las</a:t>
            </a:r>
          </a:p>
          <a:p>
            <a:r>
              <a:t>colisiones mezclan tiers distintos. La regla que sacamos es: la codificación tiene que</a:t>
            </a:r>
          </a:p>
          <a:p>
            <a:r>
              <a:t>preservar la relación nivel-propensión.</a:t>
            </a:r>
          </a:p>
          <a:p/>
          <a:p>
            <a:r>
              <a:t>Y una reflexión honesta: nuestra hipótesis previa era exactamente la inversa. Pensábamos que el</a:t>
            </a:r>
          </a:p>
          <a:p>
            <a:r>
              <a:t>embedding iba a ganar. Los datos nos corrigieron, y esa corrección terminó siendo el mejor</a:t>
            </a:r>
          </a:p>
          <a:p>
            <a:r>
              <a:t>modelo del trabajo."</a:t>
            </a:r>
          </a:p>
          <a:p/>
          <a:p>
            <a:r>
              <a:t>→ en pantalla: el gráfico ocupa toda la pantalla y la única frase escrita es «nuestra hipótesis</a:t>
            </a:r>
          </a:p>
          <a:p>
            <a:r>
              <a:t>era la inversa». Esta diapositiva no tiene texto de apoyo: todo el argumento lo lleva la voz.</a:t>
            </a:r>
          </a:p>
          <a:p>
            <a:r>
              <a:t>Es la más importante del mazo — no la apures.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· Experimento 6: ¿arrancar de pesos informados? — [0.8 min]</a:t>
            </a:r>
          </a:p>
          <a:p/>
          <a:p>
            <a:r>
              <a:t>"Este es el pre-entrenamiento de la clase tres, en miniatura. La pregunta: ¿un arranque</a:t>
            </a:r>
          </a:p>
          <a:p>
            <a:r>
              <a:t>informado le gana a uno aleatorio?</a:t>
            </a:r>
          </a:p>
          <a:p/>
          <a:p>
            <a:r>
              <a:t>Probamos tres formas, todas con modelos propios.</a:t>
            </a:r>
          </a:p>
          <a:p/>
          <a:p>
            <a:r>
              <a:t>MLM estilo BERT sobre los feature-tokens: veinte épocas enmascarando features, sin usar</a:t>
            </a:r>
          </a:p>
          <a:p>
            <a:r>
              <a:t>etiquetas. Sobre embeddings suma un poco. Sobre ordinal, nada — el prior ordinal ya hace ese</a:t>
            </a:r>
          </a:p>
          <a:p>
            <a:r>
              <a:t>trabajo de regularización.</a:t>
            </a:r>
          </a:p>
          <a:p/>
          <a:p>
            <a:r>
              <a:t>w2v-init, un skipgram propio, regulariza la variante de palabras pero no alcanza a la de</a:t>
            </a:r>
          </a:p>
          <a:p>
            <a:r>
              <a:t>caracteres. Y el autoencoder repite el mismo patrón.</a:t>
            </a:r>
          </a:p>
          <a:p/>
          <a:p>
            <a:r>
              <a:t>Decisión: inicialización aleatoria.</a:t>
            </a:r>
          </a:p>
          <a:p/>
          <a:p>
            <a:r>
              <a:t>Y si preguntan por transfer desde un preentrenado de verdad: lo probamos con MiniLM, está</a:t>
            </a:r>
          </a:p>
          <a:p>
            <a:r>
              <a:t>en el apéndice. Congelado resta. Fine-tuneado repara. Y aun así nada supera nuestro cero</a:t>
            </a:r>
          </a:p>
          <a:p>
            <a:r>
              <a:t>ochocientos veinticuatro, con veintidós millones de parámetros contra veintiséis mil."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· Experimento 7: ¿y el texto? — [1.4 min]</a:t>
            </a:r>
          </a:p>
          <a:p/>
          <a:p>
            <a:r>
              <a:t>"La señal nace en el texto. Entonces la pregunta obvia: ¿el transformer puede leerla solo, sin</a:t>
            </a:r>
          </a:p>
          <a:p>
            <a:r>
              <a:t>nuestra expresión regular?</a:t>
            </a:r>
          </a:p>
          <a:p/>
          <a:p>
            <a:r>
              <a:t>Corrimos el arco completo.</a:t>
            </a:r>
          </a:p>
          <a:p/>
          <a:p>
            <a:r>
              <a:t>Texto puro, caracteres como tokens — la demo adaptada de decoder a encoder: cero seiscientos</a:t>
            </a:r>
          </a:p>
          <a:p>
            <a:r>
              <a:t>cincuenta y dos. Muy por encima del techo sin señal, que era dieciséis. O sea que encontró el</a:t>
            </a:r>
          </a:p>
          <a:p>
            <a:r>
              <a:t>sufijo solo. Pero muy por debajo del tabular: leer caracteres con treinta y seis mil</a:t>
            </a:r>
          </a:p>
          <a:p>
            <a:r>
              <a:t>parámetros cuesta caro.</a:t>
            </a:r>
          </a:p>
          <a:p/>
          <a:p>
            <a:r>
              <a:t>Híbrido, features y doscientos cincuenta y seis caracteres en una sola secuencia: cero</a:t>
            </a:r>
          </a:p>
          <a:p>
            <a:r>
              <a:t>setecientos cinco. Peor que el tabular solo. Los tokens de texto diluyen la atención sobre</a:t>
            </a:r>
          </a:p>
          <a:p>
            <a:r>
              <a:t>los trece que importan.</a:t>
            </a:r>
          </a:p>
          <a:p/>
          <a:p>
            <a:r>
              <a:t>Pero acá hay un dato fino, y es lindo. Al híbrido, sacarle el token parseado no le cuesta nada.</a:t>
            </a:r>
          </a:p>
          <a:p>
            <a:r>
              <a:t>O sea que reconstruye desde los caracteres crudos lo que nosotros extraíamos con la regex.</a:t>
            </a:r>
          </a:p>
          <a:p/>
          <a:p>
            <a:r>
              <a:t>Y la fusión —comprimir el texto a un solo token que entra a la secuencia tabular— cura la</a:t>
            </a:r>
          </a:p>
          <a:p>
            <a:r>
              <a:t>dilución por completo. Pero empata exacto con la torre. Conclusión: una vez que comprimís,</a:t>
            </a:r>
          </a:p>
          <a:p>
            <a:r>
              <a:t>cruzar por atención o por concatenación da igual. Lo que importa es comprimir.</a:t>
            </a:r>
          </a:p>
          <a:p/>
          <a:p>
            <a:r>
              <a:t>La conclusión de diseño: el texto crudo es recuperable, pero redundante cuando el EDA ya</a:t>
            </a:r>
          </a:p>
          <a:p>
            <a:r>
              <a:t>parseó la señal."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· Desafíos encontrados — [1.8 min]</a:t>
            </a:r>
          </a:p>
          <a:p/>
          <a:p>
            <a:r>
              <a:t>"Cuatro cosas que nos pasaron y vale la pena contar.</a:t>
            </a:r>
          </a:p>
          <a:p/>
          <a:p>
            <a:r>
              <a:t>*(panel uno)* El causal degenerado. Hicimos la ablación de 'qué pasa si dejamos la máscara</a:t>
            </a:r>
          </a:p>
          <a:p>
            <a:r>
              <a:t>causal', y dio ROC exactamente cero coma cinco. Exactamente. Eso no es 'causal anda peor', eso</a:t>
            </a:r>
          </a:p>
          <a:p>
            <a:r>
              <a:t>es que algo está roto.</a:t>
            </a:r>
          </a:p>
          <a:p/>
          <a:p>
            <a:r>
              <a:t>Y el diagnóstico fue este: con máscara causal, nuestro CLS está en la posición cero, así que</a:t>
            </a:r>
          </a:p>
          <a:p>
            <a:r>
              <a:t>solo puede verse a sí mismo. No ve ninguna feature. El modelo predecía una constante — la misma</a:t>
            </a:r>
          </a:p>
          <a:p>
            <a:r>
              <a:t>probabilidad para todo el test.</a:t>
            </a:r>
          </a:p>
          <a:p/>
          <a:p>
            <a:r>
              <a:t>El arreglo es ponerlo al final, que es desde donde lee GPT. Y con eso la respuesta real aparece:</a:t>
            </a:r>
          </a:p>
          <a:p>
            <a:r>
              <a:t>la bidireccionalidad acá da igual. La lección que nos llevamos: los decoders leen desde el</a:t>
            </a:r>
          </a:p>
          <a:p>
            <a:r>
              <a:t>último token, los encoders pueden poner el CLS adelante — pero las dos cosas tienen que ser</a:t>
            </a:r>
          </a:p>
          <a:p>
            <a:r>
              <a:t>coherentes.</a:t>
            </a:r>
          </a:p>
          <a:p/>
          <a:p>
            <a:r>
              <a:t>*(panel dos)* Las trampas del dataset: cart y los timestamps rotos. El EDA los cazó antes</a:t>
            </a:r>
          </a:p>
          <a:p>
            <a:r>
              <a:t>de que mordieran.</a:t>
            </a:r>
          </a:p>
          <a:p/>
          <a:p>
            <a:r>
              <a:t>*(panel tres)* El cómputo. La familia de texto es inviable en CPU, por la atención</a:t>
            </a:r>
          </a:p>
          <a:p>
            <a:r>
              <a:t>cuadrática sobre doscientos cincuenta y siete tokens. Armamos una suite de experimentos</a:t>
            </a:r>
          </a:p>
          <a:p>
            <a:r>
              <a:t>resumible que corre en una GPU de consumo, y deja cada corrida registrada con sus dieciséis</a:t>
            </a:r>
          </a:p>
          <a:p>
            <a:r>
              <a:t>métricas. Ochocientas treinta y ocho corridas en total.</a:t>
            </a:r>
          </a:p>
          <a:p/>
          <a:p>
            <a:r>
              <a:t>*(panel cuatro)* Y hipótesis que refutamos con datos. Las contamos porque el método importa:</a:t>
            </a:r>
          </a:p>
          <a:p>
            <a:r>
              <a:t>bins por cuantiles para la U del precio — el MLP interno ya la captura. Pesos por clase para el</a:t>
            </a:r>
          </a:p>
          <a:p>
            <a:r>
              <a:t>desbalance — daña, porque PR-AUC es de ranking. Mean pooling en vez de CLS — el CLS gana seis de</a:t>
            </a:r>
          </a:p>
          <a:p>
            <a:r>
              <a:t>seis. Y positional encoding en features — diferencia cero, como predice la teoría."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· Divisoria — Resultados — [5 s]</a:t>
            </a:r>
          </a:p>
          <a:p/>
          <a:p>
            <a:r>
              <a:t>"Resultados."</a:t>
            </a:r>
          </a:p>
          <a:p/>
          <a:p>
            <a:r>
              <a:t>→ en pantalla: pantalla oscura, número grande, «qué quedó en pie y qué aprendimos».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· El modelo final — [1.3 min]</a:t>
            </a:r>
          </a:p>
          <a:p/>
          <a:p>
            <a:r>
              <a:t>"El modelo final: un FT-Transformer con codificación ordinal.</a:t>
            </a:r>
          </a:p>
          <a:p/>
          <a:p>
            <a:r>
              <a:t>Trece feature-tokens más el CLS. Dimensión treinta y dos, cuatro cabezas, dos bloques pre-LN,</a:t>
            </a:r>
          </a:p>
          <a:p>
            <a:r>
              <a:t>sin positional. Una capa lineal de treinta y dos a uno, y sigmoide. Veintiséis mil ciento</a:t>
            </a:r>
          </a:p>
          <a:p>
            <a:r>
              <a:t>setenta y siete parámetros — el más chico de los cinco mejores.</a:t>
            </a:r>
          </a:p>
          <a:p/>
          <a:p>
            <a:r>
              <a:t>Entrenamiento: AdamW, batch doscientos cincuenta y seis, early stopping por PR-AUC de validación</a:t>
            </a:r>
          </a:p>
          <a:p>
            <a:r>
              <a:t>con paciencia veinte. Corta cerca de la época sesenta y cuatro.</a:t>
            </a:r>
          </a:p>
          <a:p/>
          <a:p>
            <a:r>
              <a:t>Cómo lo elegimos, y esto nos importa. En validación había un empate técnico entre cuatro</a:t>
            </a:r>
          </a:p>
          <a:p>
            <a:r>
              <a:t>configuraciones, con diferencias menores a dos milésimas. Validación no puede distinguirlas. Así</a:t>
            </a:r>
          </a:p>
          <a:p>
            <a:r>
              <a:t>que desempatamos por parsimonia: menos parámetros, menor desvío entre semillas, y menor gap</a:t>
            </a:r>
          </a:p>
          <a:p>
            <a:r>
              <a:t>entre validación y test. Recién después miramos test, que confirma la elección.</a:t>
            </a:r>
          </a:p>
          <a:p/>
          <a:p>
            <a:r>
              <a:t>*(señalando los números)* PR-AUC en test: cero ochocientos veinticuatro, con desvío cero cero</a:t>
            </a:r>
          </a:p>
          <a:p>
            <a:r>
              <a:t>dieciocho, sobre seis semillas. Validación cruzada cinco por seis: cero ochocientos veintiuno.</a:t>
            </a:r>
          </a:p>
          <a:p>
            <a:r>
              <a:t>Con ensamble, cero ochocientos treinta y cuatro — y llegamos ahí por dos rutas independientes,</a:t>
            </a:r>
          </a:p>
          <a:p>
            <a:r>
              <a:t>ensamblando configuraciones o ensamblando inicializaciones.</a:t>
            </a:r>
          </a:p>
          <a:p/>
          <a:p>
            <a:r>
              <a:t>Contra las varas: GBM cero setecientos sesenta y dos, mejor MLP cero setecientos noventa y</a:t>
            </a:r>
          </a:p>
          <a:p>
            <a:r>
              <a:t>siete."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· Robustez — [1.0 min]</a:t>
            </a:r>
          </a:p>
          <a:p/>
          <a:p>
            <a:r>
              <a:t>"Tres verificaciones sobre el modelo final.</a:t>
            </a:r>
          </a:p>
          <a:p/>
          <a:p>
            <a:r>
              <a:t>*(señalando la curva)* Curva de aprendizaje. Entrenamos con el veinticinco, cincuenta,</a:t>
            </a:r>
          </a:p>
          <a:p>
            <a:r>
              <a:t>setenta y cinco y cien por ciento de los datos. La curva está casi saturada: el último cuarto</a:t>
            </a:r>
          </a:p>
          <a:p>
            <a:r>
              <a:t>aporta siete milésimas. Y con el setenta y cinco por ciento de los datos ya le ganamos al GBM</a:t>
            </a:r>
          </a:p>
          <a:p>
            <a:r>
              <a:t>entrenado con todo.</a:t>
            </a:r>
          </a:p>
          <a:p/>
          <a:p>
            <a:r>
              <a:t>Varianza. Hicimos una grilla de cinco inicializaciones por seis splits, para separar de</a:t>
            </a:r>
          </a:p>
          <a:p>
            <a:r>
              <a:t>dónde viene el desvío. Y es mitad lotería del split, mitad inicialización. Eso valida el</a:t>
            </a:r>
          </a:p>
          <a:p>
            <a:r>
              <a:t>protocolo de promediar semillas. Y esa mitad de inicialización es justo lo que el ensamble</a:t>
            </a:r>
          </a:p>
          <a:p>
            <a:r>
              <a:t>elimina.</a:t>
            </a:r>
          </a:p>
          <a:p/>
          <a:p>
            <a:r>
              <a:t>Calibración. ECE de cero coma cero uno, temperatura cerca de uno. Y esto importa por lo que</a:t>
            </a:r>
          </a:p>
          <a:p>
            <a:r>
              <a:t>dijimos al principio: el BTR de negocio es el promedio de las probabilidades. Si el modelo</a:t>
            </a:r>
          </a:p>
          <a:p>
            <a:r>
              <a:t>no estuviera calibrado, ese promedio no significaría nada. Está calibrado, así que se puede leer</a:t>
            </a:r>
          </a:p>
          <a:p>
            <a:r>
              <a:t>directo, sin corrección."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· Overfitting y underfitting — [40 s]</a:t>
            </a:r>
          </a:p>
          <a:p/>
          <a:p>
            <a:r>
              <a:t>"El enunciado pide mirar overfitting y underfitting, así que acá están las curvas del modelo</a:t>
            </a:r>
          </a:p>
          <a:p>
            <a:r>
              <a:t>final.</a:t>
            </a:r>
          </a:p>
          <a:p/>
          <a:p>
            <a:r>
              <a:t>*(señalando el gráfico)* Train sube sostenido. Validación sube, se aplana, y ahí el early</a:t>
            </a:r>
          </a:p>
          <a:p>
            <a:r>
              <a:t>stopping corta — la línea punteada — y restaura ese checkpoint. Nunca entrenamos de más.</a:t>
            </a:r>
          </a:p>
          <a:p/>
          <a:p>
            <a:r>
              <a:t>El gap entre train y validación es moderado y estable. No se abre. Eso descarta overfitting</a:t>
            </a:r>
          </a:p>
          <a:p>
            <a:r>
              <a:t>descontrolado. Y como las dos suben bien al principio, tampoco hay underfitting.</a:t>
            </a:r>
          </a:p>
          <a:p/>
          <a:p>
            <a:r>
              <a:t>El dato que lo cierra: del valor de validación al de test hay once milésimas de diferencia.</a:t>
            </a:r>
          </a:p>
          <a:p>
            <a:r>
              <a:t>Es el gap más chico de las cuatro configuraciones finalistas. O sea que la elección por</a:t>
            </a:r>
          </a:p>
          <a:p>
            <a:r>
              <a:t>validación no nos engañó.</a:t>
            </a:r>
          </a:p>
          <a:p/>
          <a:p>
            <a:r>
              <a:t>Estas curvas las tenemos para las ochocientas treinta y ocho corridas, no solo para esta."</a:t>
            </a:r>
          </a:p>
          <a:p/>
          <a:p>
            <a:r>
              <a:t>→ en pantalla: la curva de train y validación con la vertical punteada del early stopping.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· ¿El modelo mira donde debe? — [1.3 min]</a:t>
            </a:r>
          </a:p>
          <a:p/>
          <a:p>
            <a:r>
              <a:t>"Con catorce tokens, la matriz de atención se puede mirar directamente. No hace falta</a:t>
            </a:r>
          </a:p>
          <a:p>
            <a:r>
              <a:t>ninguna técnica sofisticada.</a:t>
            </a:r>
          </a:p>
          <a:p/>
          <a:p>
            <a:r>
              <a:t>*(señalando el mapa)* En la primera capa, el CLS pone el setenta y cinco por ciento de su</a:t>
            </a:r>
          </a:p>
          <a:p>
            <a:r>
              <a:t>atención en el token de estado. Y la familia del precio se consulta entre sí: el precio y el</a:t>
            </a:r>
          </a:p>
          <a:p>
            <a:r>
              <a:t>mínimo del filtro atienden a price_rel. Esa es la señal relacional, literal en el mapa. La</a:t>
            </a:r>
          </a:p>
          <a:p>
            <a:r>
              <a:t>segunda capa ya mezcla todo.</a:t>
            </a:r>
          </a:p>
          <a:p/>
          <a:p>
            <a:r>
              <a:t>Ahora, hay una crítica conocida a esto — 'attention is not explanation'. La atención te muestra</a:t>
            </a:r>
          </a:p>
          <a:p>
            <a:r>
              <a:t>dónde mira el modelo, no necesariamente qué usa. Así que lo contrastamos con un diagnóstico</a:t>
            </a:r>
          </a:p>
          <a:p>
            <a:r>
              <a:t>independiente, basado en resultados.</a:t>
            </a:r>
          </a:p>
          <a:p/>
          <a:p>
            <a:r>
              <a:t>*(segundo gráfico)* Importancia por permutación: rompemos una feature y medimos cuánto se</a:t>
            </a:r>
          </a:p>
          <a:p>
            <a:r>
              <a:t>cae el modelo. Destruir listing_status cuesta sesenta y ocho centésimas de PR-AUC. price_rel</a:t>
            </a:r>
          </a:p>
          <a:p>
            <a:r>
              <a:t>cuesta catorce. Alergenos, cinco. El resto, cero.</a:t>
            </a:r>
          </a:p>
          <a:p/>
          <a:p>
            <a:r>
              <a:t>Dos métodos independientes, la misma historia. Y es exactamente la del EDA. El círculo cierra.</a:t>
            </a:r>
          </a:p>
          <a:p/>
          <a:p>
            <a:r>
              <a:t>Y la traducción a negocio: en las páginas de test donde hubo al menos una compra, el producto</a:t>
            </a:r>
          </a:p>
          <a:p>
            <a:r>
              <a:t>que nuestro modelo pone primero fue efectivamente el comprado el noventa y uno por ciento de</a:t>
            </a:r>
          </a:p>
          <a:p>
            <a:r>
              <a:t>las veces. El azar da veintisiete."</a:t>
            </a:r>
          </a:p>
          <a:p/>
          <a:p>
            <a:r>
              <a:t>→ en pantalla: a la izquierda el mapa de atención a lo alto; a la derecha el gráfico de</a:t>
            </a:r>
          </a:p>
          <a:p>
            <a:r>
              <a:t>permutación y, debajo, los tres recuadros — atención, permutación, negocio. Señalá el mapa,</a:t>
            </a:r>
          </a:p>
          <a:p>
            <a:r>
              <a:t>después el gráfico, y cerrá con el recuadro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· Ejercicio 3: personalización — [1.6 min]</a:t>
            </a:r>
          </a:p>
          <a:p/>
          <a:p>
            <a:r>
              <a:t>"El ejercicio teórico: cómo haríamos que el BTR dependa de quién busca.</a:t>
            </a:r>
          </a:p>
          <a:p/>
          <a:p>
            <a:r>
              <a:t>Hoy nuestro modelo estima la probabilidad dado el producto y la búsqueda. Personalizar es</a:t>
            </a:r>
          </a:p>
          <a:p>
            <a:r>
              <a:t>condicionar también al usuario.</a:t>
            </a:r>
          </a:p>
          <a:p/>
          <a:p>
            <a:r>
              <a:t>Lo primero es que hace falta dato nuevo: un identificador de usuario y su historial de</a:t>
            </a:r>
          </a:p>
          <a:p>
            <a:r>
              <a:t>eventos. El dataset actual no lo trae.</a:t>
            </a:r>
          </a:p>
          <a:p/>
          <a:p>
            <a:r>
              <a:t>*(panel izquierdo)* Y la extensión natural de nuestra arquitectura es directa. Así como</a:t>
            </a:r>
          </a:p>
          <a:p>
            <a:r>
              <a:t>evaluamos meter el texto como tokens, acá el historial del usuario entra como tokens: sus</a:t>
            </a:r>
          </a:p>
          <a:p>
            <a:r>
              <a:t>últimas compras y búsquedas, cada una codificada con el mismo tokenizador de productos. Y la</a:t>
            </a:r>
          </a:p>
          <a:p>
            <a:r>
              <a:t>secuencia los atiende.</a:t>
            </a:r>
          </a:p>
          <a:p/>
          <a:p>
            <a:r>
              <a:t>El ejemplo concreto: alguien que compra comida de perro todos los meses tiene esos productos en</a:t>
            </a:r>
          </a:p>
          <a:p>
            <a:r>
              <a:t>su historial. Cuando aparecen en la página, la atención cruza historial contra candidato y le</a:t>
            </a:r>
          </a:p>
          <a:p>
            <a:r>
              <a:t>sube la probabilidad. Esto en producción existe y se llama BST o SASRec — es exactamente esto.</a:t>
            </a:r>
          </a:p>
          <a:p/>
          <a:p>
            <a:r>
              <a:t>*(panel derecho arriba)* La alternativa clásica, que conecta con la clase dos: embeddings de</a:t>
            </a:r>
          </a:p>
          <a:p>
            <a:r>
              <a:t>usuario y producto entrenados con negative sampling. Item2vec o two-tower — un skipgram donde</a:t>
            </a:r>
          </a:p>
          <a:p>
            <a:r>
              <a:t>el contexto son los productos con los que el usuario interactuó. Eso sirve como retrieval si</a:t>
            </a:r>
          </a:p>
          <a:p>
            <a:r>
              <a:t>el catálogo fuera enorme, con nuestro modelo de ranker arriba.</a:t>
            </a:r>
          </a:p>
          <a:p/>
          <a:p>
            <a:r>
              <a:t>*(panel derecho abajo)* Y el detalle que este trabajo nos dejó bien aprendido: el usuario nuevo</a:t>
            </a:r>
          </a:p>
          <a:p>
            <a:r>
              <a:t>sin historial es exactamente el mismo problema que el producto nuevo sin badge. Cold-start. Y el</a:t>
            </a:r>
          </a:p>
          <a:p>
            <a:r>
              <a:t>fallback es justo el modelo que ya tenemos, que no depende del usuario."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· Conclusiones — [1.5 min]</a:t>
            </a:r>
          </a:p>
          <a:p/>
          <a:p>
            <a:r>
              <a:t>"Cinco conclusiones.</a:t>
            </a:r>
          </a:p>
          <a:p/>
          <a:p>
            <a:r>
              <a:t>Una: el EDA mandó. La señal dominante no era ninguna columna del CSV. Estaba escondida en</a:t>
            </a:r>
          </a:p>
          <a:p>
            <a:r>
              <a:t>el sufijo del título, entre paréntesis. La sacamos con una expresión regular y partió el dataset</a:t>
            </a:r>
          </a:p>
          <a:p>
            <a:r>
              <a:t>en tres grupos limpios. Todo lo que hicimos después sale de haberla encontrado.</a:t>
            </a:r>
          </a:p>
          <a:p/>
          <a:p>
            <a:r>
              <a:t>Dos: la formulación valió más que el tamaño. El modelo campeón tiene veintiséis mil</a:t>
            </a:r>
          </a:p>
          <a:p>
            <a:r>
              <a:t>parámetros. Lo que movió la aguja no fue agregar capacidad — la probamos y no alcanzó — sino</a:t>
            </a:r>
          </a:p>
          <a:p>
            <a:r>
              <a:t>decidir bien qué entra y cómo se codifica.</a:t>
            </a:r>
          </a:p>
          <a:p/>
          <a:p>
            <a:r>
              <a:t>Tres: la atención aporta, y lo medimos con vara honesta. Cuarenta y ocho milésimas contra</a:t>
            </a:r>
          </a:p>
          <a:p>
            <a:r>
              <a:t>su gemelo sin atención, con la misma entrada y las mismas semillas. Y contra el mejor MLP</a:t>
            </a:r>
          </a:p>
          <a:p>
            <a:r>
              <a:t>posible, que tiene cuatro veces y media más parámetros, veintisiete milésimas. Sigue ganando.</a:t>
            </a:r>
          </a:p>
          <a:p/>
          <a:p>
            <a:r>
              <a:t>Cuatro: el mejor encoding fue el más simple. Ordinal — un número por nivel, ordenado por su</a:t>
            </a:r>
          </a:p>
          <a:p>
            <a:r>
              <a:t>tasa de compra. Le ganó a embeddings, a target y a hashing. Y refutó nuestra propia hipótesis,</a:t>
            </a:r>
          </a:p>
          <a:p>
            <a:r>
              <a:t>que es exactamente lo que uno quiere de un experimento.</a:t>
            </a:r>
          </a:p>
          <a:p/>
          <a:p>
            <a:r>
              <a:t>Y cinco: el modelo es auditable. La atención y la importancia por permutación coinciden en</a:t>
            </a:r>
          </a:p>
          <a:p>
            <a:r>
              <a:t>qué mira. Las probabilidades están calibradas. Y en la práctica elige bien el producto a</a:t>
            </a:r>
          </a:p>
          <a:p>
            <a:r>
              <a:t>promocionar el noventa y uno por ciento de las veces, contra veintisiete del azar."</a:t>
            </a:r>
          </a:p>
          <a:p/>
          <a:p>
            <a:r>
              <a:t>→ en pantalla: las cinco numeradas, cada una con su titular y su explicación. Leé el titular en</a:t>
            </a:r>
          </a:p>
          <a:p>
            <a:r>
              <a:t>voz alta y contá la explicación con tus palabras — no la leas.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· Gracias — [5 s]</a:t>
            </a:r>
          </a:p>
          <a:p/>
          <a:p>
            <a:r>
              <a:t>"Eso es todo. Gracias, y quedamos para preguntas."</a:t>
            </a:r>
          </a:p>
          <a:p/>
          <a:p>
            <a:r>
              <a:t>→ en pantalla: pantalla oscura, «Gracias» grande, «Preguntas» y los tres nombres. Queda ahí</a:t>
            </a:r>
          </a:p>
          <a:p>
            <a:r>
              <a:t>mientras contestan.</a:t>
            </a:r>
          </a:p>
          <a:p/>
          <a:p>
            <a:r>
              <a:t>Apéndice para preguntas</a:t>
            </a:r>
          </a:p>
          <a:p/>
          <a:p>
            <a:r>
              <a:t>No se presenta. Es para tener las respuestas a mano.</a:t>
            </a:r>
          </a:p>
          <a:p/>
          <a:p>
            <a:r>
              <a:t>¿Por qué PR-AUC y no F1?</a:t>
            </a:r>
          </a:p>
          <a:p>
            <a:r>
              <a:t>F1 necesita umbral; el uso es ranking. Igual lo medimos: F1 máximo 0.784 en umbral 0.40 — o sea</a:t>
            </a:r>
          </a:p>
          <a:p>
            <a:r>
              <a:t>que 0.5 hubiera sido arbitrario.</a:t>
            </a:r>
          </a:p>
          <a:p/>
          <a:p>
            <a:r>
              <a:t>¿Por qué no ROC como principal?</a:t>
            </a:r>
          </a:p>
          <a:p>
            <a:r>
              <a:t>Con 13% de positivos el ROC oculta fallas. Ejemplo propio: el encoding por hashing tiene ROC 0.88</a:t>
            </a:r>
          </a:p>
          <a:p>
            <a:r>
              <a:t>—suena razonable— y PR-AUC 0.498, que es un colapso.</a:t>
            </a:r>
          </a:p>
          <a:p/>
          <a:p>
            <a:r>
              <a:t>¿Hay overfitting?</a:t>
            </a:r>
          </a:p>
          <a:p>
            <a:r>
              <a:t>Curvas de train y validación por época en cada corrida. Early stopping por validación. Gap de</a:t>
            </a:r>
          </a:p>
          <a:p>
            <a:r>
              <a:t>validación a test entre 0.01 y 0.03, que es selección normal. Y el encoding ordinal es en sí una</a:t>
            </a:r>
          </a:p>
          <a:p>
            <a:r>
              <a:t>regularización.</a:t>
            </a:r>
          </a:p>
          <a:p/>
          <a:p>
            <a:r>
              <a:t>¿Por qué no validación cruzada desde el principio?</a:t>
            </a:r>
          </a:p>
          <a:p>
            <a:r>
              <a:t>La cátedra pidió priorizar promedio de corridas. Igual la hicimos al final: GroupKFold 5×6 da</a:t>
            </a:r>
          </a:p>
          <a:p>
            <a:r>
              <a:t>0.821 ± 0.012, consistente con el 0.824.</a:t>
            </a:r>
          </a:p>
          <a:p/>
          <a:p>
            <a:r>
              <a:t>¿Y el split por producto?</a:t>
            </a:r>
          </a:p>
          <a:p>
            <a:r>
              <a:t>Verificado: métricas idénticas restringiendo test a productos nunca vistos. El modelo no recibe</a:t>
            </a:r>
          </a:p>
          <a:p>
            <a:r>
              <a:t>identidad de producto.</a:t>
            </a:r>
          </a:p>
          <a:p/>
          <a:p>
            <a:r>
              <a:t>¿Usar el estado no es hacer trampa?</a:t>
            </a:r>
          </a:p>
          <a:p>
            <a:r>
              <a:t>Es información de estado del catálogo: está disponible al momento de predecir, así que es válida</a:t>
            </a:r>
          </a:p>
          <a:p>
            <a:r>
              <a:t>para predecir. Sí es circular para decidir promociones. Por eso medimos las dos familias — sin</a:t>
            </a:r>
          </a:p>
          <a:p>
            <a:r>
              <a:t>estado, el techo es 0.16 para cualquier modelo, porque el 61% de las filas tiene BTR cero exacto.</a:t>
            </a:r>
          </a:p>
          <a:p/>
          <a:p>
            <a:r>
              <a:t>¿Probaron multi-task con cart?</a:t>
            </a:r>
          </a:p>
          <a:p>
            <a:r>
              <a:t>Sí, como etiqueta auxiliar con λ en 0.1, 0.3 y 0.5. No es leakage porque el modelo la predice en</a:t>
            </a:r>
          </a:p>
          <a:p>
            <a:r>
              <a:t>vez de recibirla. No mejoró: el mejor da 0.809 contra 0.824. Probablemente porque bought implica</a:t>
            </a:r>
          </a:p>
          <a:p>
            <a:r>
              <a:t>cart, así que la tarea auxiliar no agrega información.</a:t>
            </a:r>
          </a:p>
          <a:p/>
          <a:p>
            <a:r>
              <a:t>¿Probaron regularización?</a:t>
            </a:r>
          </a:p>
          <a:p>
            <a:r>
              <a:t>Sí, barrido completo con 6 semillas: dropout, weight decay, feature dropout, label smoothing.</a:t>
            </a:r>
          </a:p>
          <a:p>
            <a:r>
              <a:t>Ninguna aporta — sin dropout da 0.828, con dropout 0.1 da 0.824, sin nada 0.824, todo dentro de un</a:t>
            </a:r>
          </a:p>
          <a:p>
            <a:r>
              <a:t>desvío de 0.02. La interpretación es que el early stopping ya evita el sobreajuste. Lo que sí se</a:t>
            </a:r>
          </a:p>
          <a:p>
            <a:r>
              <a:t>ve es el daño del exceso: dropout 0.3 baja a 0.813.</a:t>
            </a:r>
          </a:p>
          <a:p/>
          <a:p>
            <a:r>
              <a:t>¿Probaron achicar más el modelo?</a:t>
            </a:r>
          </a:p>
          <a:p>
            <a:r>
              <a:t>Sí. min_d16l1 —dimensión 16, un bloque, 3.713 parámetros— empata al campeón. Y destilando del</a:t>
            </a:r>
          </a:p>
          <a:p>
            <a:r>
              <a:t>ensamble, un student de 1.937 parámetros llega a 0.828. Compresión de 13×.</a:t>
            </a:r>
          </a:p>
          <a:p/>
          <a:p>
            <a:r>
              <a:t>¿Transfer desde un preentrenado de verdad?</a:t>
            </a:r>
          </a:p>
          <a:p>
            <a:r>
              <a:t>MiniLM. Congelado como token: 0.751. Congelado más MLP: 0.773. Fine-tuneado, con 22,7 millones de</a:t>
            </a:r>
          </a:p>
          <a:p>
            <a:r>
              <a:t>parámetros: 0.811. Ninguno supera nuestros 26 mil parámetros en 0.824. La razón es que el dataset</a:t>
            </a:r>
          </a:p>
          <a:p>
            <a:r>
              <a:t>es sintético y el wording no correlaciona con el comportamiento — "Top Rated" y "Highly Rated"</a:t>
            </a:r>
          </a:p>
          <a:p>
            <a:r>
              <a:t>suenan iguales para BERT y difieren 30× en compra.</a:t>
            </a:r>
          </a:p>
          <a:p/>
          <a:p>
            <a:r>
              <a:t>¿Por qué 26k parámetros y no más?</a:t>
            </a:r>
          </a:p>
          <a:p>
            <a:r>
              <a:t>Porque lo medimos. La meseta de d_model va de 8 a 64 sin diferencias significativas, 4 bloques no</a:t>
            </a:r>
          </a:p>
          <a:p>
            <a:r>
              <a:t>superan a 2, y la config con mejor validación de todo el proyecto (245k parámetros) NO es</a:t>
            </a:r>
          </a:p>
          <a:p>
            <a:r>
              <a:t>mejor en test. Eso último es sobreajuste de selección, y es la razón por la que cerramos la</a:t>
            </a:r>
          </a:p>
          <a:p>
            <a:r>
              <a:t>selección con un procedimiento fijado de antemano.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173736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0"/>
            <a:ext cx="11057839" cy="110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17242C"/>
                </a:solidFill>
                <a:latin typeface="Arial"/>
              </a:rPr>
              <a:t>Predicción de Buy Through Rate (BTR) con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22116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5F7183"/>
                </a:solidFill>
                <a:latin typeface="Arial"/>
              </a:rPr>
              <a:t>un FT-Transformer sobre feature-tokens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669280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8521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7183"/>
                </a:solidFill>
                <a:latin typeface="Consolas"/>
              </a:rPr>
              <a:t>Matias Rossi Seifert · Juan Bautista Albertoni Salini · Junior Rambau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8B4"/>
                </a:solidFill>
                <a:latin typeface="Consolas"/>
              </a:rPr>
              <a:t>ITBA · 73.69 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2E4450"/>
                </a:solidFill>
                <a:latin typeface="Consola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97180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7F6"/>
                </a:solidFill>
                <a:latin typeface="Arial"/>
              </a:rPr>
              <a:t>El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84048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13308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6B1"/>
                </a:solidFill>
                <a:latin typeface="Arial"/>
              </a:rPr>
              <a:t>Qué predecimos, con qué datos, y cómo lo medimos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03 · EL PROBLEMA · FORMULACIÓN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Qué se predice, exactamente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29941"/>
            <a:ext cx="5373471" cy="483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D4B5A"/>
                </a:solidFill>
                <a:latin typeface="Arial"/>
              </a:rPr>
              <a:t>BTR</a:t>
            </a:r>
            <a:r>
              <a:rPr sz="1250" b="0">
                <a:solidFill>
                  <a:srgbClr val="3D4B5A"/>
                </a:solidFill>
                <a:latin typeface="Arial"/>
              </a:rPr>
              <a:t> = compras / impresiones. Objetivo de negocio: </a:t>
            </a:r>
            <a:r>
              <a:rPr sz="1250" b="1">
                <a:solidFill>
                  <a:srgbClr val="3D4B5A"/>
                </a:solidFill>
                <a:latin typeface="Arial"/>
              </a:rPr>
              <a:t>qué promocionar</a:t>
            </a:r>
            <a:r>
              <a:rPr sz="1250" b="0">
                <a:solidFill>
                  <a:srgbClr val="3D4B5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13811"/>
            <a:ext cx="53734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El dataset es un </a:t>
            </a:r>
            <a:r>
              <a:rPr sz="1200" b="1">
                <a:solidFill>
                  <a:srgbClr val="3D4B5A"/>
                </a:solidFill>
                <a:latin typeface="Arial"/>
              </a:rPr>
              <a:t>log de eventos</a:t>
            </a:r>
            <a:r>
              <a:rPr sz="1200" b="0">
                <a:solidFill>
                  <a:srgbClr val="3D4B5A"/>
                </a:solidFill>
                <a:latin typeface="Arial"/>
              </a:rPr>
              <a:t>: cada fila = un producto impreso en una búsqueda.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81983"/>
            <a:ext cx="5373471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Formulación</a:t>
            </a:r>
            <a:r>
              <a:rPr sz="1200" b="0">
                <a:solidFill>
                  <a:srgbClr val="3D4B5A"/>
                </a:solidFill>
                <a:latin typeface="Arial"/>
              </a:rPr>
              <a:t>: clasificación binaria </a:t>
            </a:r>
            <a:r>
              <a:rPr sz="1200" b="1">
                <a:solidFill>
                  <a:srgbClr val="3D4B5A"/>
                </a:solidFill>
                <a:latin typeface="Arial"/>
              </a:rPr>
              <a:t>por impresión</a:t>
            </a:r>
            <a:r>
              <a:rPr sz="1200" b="0">
                <a:solidFill>
                  <a:srgbClr val="3D4B5A"/>
                </a:solidFill>
                <a:latin typeface="Arial"/>
              </a:rPr>
              <a:t> — </a:t>
            </a:r>
            <a:r>
              <a:rPr sz="1200" b="0">
                <a:solidFill>
                  <a:srgbClr val="17242C"/>
                </a:solidFill>
                <a:latin typeface="Consolas"/>
              </a:rPr>
              <a:t>p(bought | producto, búsqueda)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41011"/>
            <a:ext cx="5373471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BTR por producto</a:t>
            </a:r>
            <a:r>
              <a:rPr sz="1200" b="0">
                <a:solidFill>
                  <a:srgbClr val="3D4B5A"/>
                </a:solidFill>
                <a:latin typeface="Arial"/>
              </a:rPr>
              <a:t> = promedio de p sobre sus impresiones →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1295" y="3029941"/>
            <a:ext cx="141320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42735" y="3029941"/>
            <a:ext cx="123032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fila del CSV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producto × búsqueda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5940" y="3029941"/>
            <a:ext cx="38404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5F7183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1428" y="3029941"/>
            <a:ext cx="1413205" cy="1234440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 w="12700">
            <a:solidFill>
              <a:srgbClr val="0E9B7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2868" y="3029941"/>
            <a:ext cx="123032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modelo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p(bought) ∈ (0,1)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6073" y="3029941"/>
            <a:ext cx="38404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5F7183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1561" y="3029941"/>
            <a:ext cx="141320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303001" y="3029941"/>
            <a:ext cx="123032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agregar por producto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7242C"/>
                </a:solidFill>
                <a:latin typeface="Arial"/>
              </a:rPr>
              <a:t>BTR estimado → ranking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04 · EDA ·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La estructura — y la primera trampa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3038703"/>
          <a:ext cx="5373471" cy="1536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86735"/>
                <a:gridCol w="2686736"/>
              </a:tblGrid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Impresiones (filas)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Consolas"/>
                        </a:rPr>
                        <a:t>10.000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Búsquedas (query_id)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Consolas"/>
                        </a:rPr>
                        <a:t>2.012 · de 1 a 8 productos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Positivos (bought)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Consolas"/>
                        </a:rPr>
                        <a:t>13,0%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Filtros de la búsqueda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Consolas"/>
                        </a:rPr>
                        <a:t>constantes por query · 100% cumplidos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51295" y="3038703"/>
            <a:ext cx="5373471" cy="16286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6743" y="3194151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LA PRIMERA TRAMPA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6743" y="3468471"/>
            <a:ext cx="5062575" cy="287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Consolas"/>
              </a:rPr>
              <a:t>bought ⟹ cart</a:t>
            </a:r>
            <a:r>
              <a:rPr sz="1250" b="0">
                <a:solidFill>
                  <a:srgbClr val="3D4B5A"/>
                </a:solidFill>
                <a:latin typeface="Arial"/>
              </a:rPr>
              <a:t> en el </a:t>
            </a:r>
            <a:r>
              <a:rPr sz="1250" b="1">
                <a:solidFill>
                  <a:srgbClr val="3D4B5A"/>
                </a:solidFill>
                <a:latin typeface="Arial"/>
              </a:rPr>
              <a:t>100%</a:t>
            </a:r>
            <a:r>
              <a:rPr sz="1250" b="0">
                <a:solidFill>
                  <a:srgbClr val="3D4B5A"/>
                </a:solidFill>
                <a:latin typeface="Arial"/>
              </a:rPr>
              <a:t> de las filas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6743" y="3756126"/>
            <a:ext cx="5062575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7242C"/>
                </a:solidFill>
                <a:latin typeface="Consolas"/>
              </a:rPr>
              <a:t>cart</a:t>
            </a:r>
            <a:r>
              <a:rPr sz="1200" b="0">
                <a:solidFill>
                  <a:srgbClr val="3D4B5A"/>
                </a:solidFill>
                <a:latin typeface="Arial"/>
              </a:rPr>
              <a:t> se conoce </a:t>
            </a:r>
            <a:r>
              <a:rPr sz="1200" b="1">
                <a:solidFill>
                  <a:srgbClr val="3D4B5A"/>
                </a:solidFill>
                <a:latin typeface="Arial"/>
              </a:rPr>
              <a:t>recién después</a:t>
            </a:r>
            <a:r>
              <a:rPr sz="1200" b="0">
                <a:solidFill>
                  <a:srgbClr val="3D4B5A"/>
                </a:solidFill>
                <a:latin typeface="Arial"/>
              </a:rPr>
              <a:t> de mostrar el producto. Al predecir no existe.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6743" y="4224298"/>
            <a:ext cx="5062575" cy="287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42A63"/>
                </a:solidFill>
                <a:latin typeface="Arial"/>
              </a:rPr>
              <a:t>Leakage ⇒ afuera.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1295" y="3038703"/>
            <a:ext cx="45720" cy="1628698"/>
          </a:xfrm>
          <a:prstGeom prst="rect">
            <a:avLst/>
          </a:prstGeom>
          <a:solidFill>
            <a:srgbClr val="D42A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05 · EDA ·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La señal dominante está escondida en el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7012"/>
            <a:ext cx="5373471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El título termina en un sufijo "( … )" en el </a:t>
            </a:r>
            <a:r>
              <a:rPr sz="1200" b="1">
                <a:solidFill>
                  <a:srgbClr val="3D4B5A"/>
                </a:solidFill>
                <a:latin typeface="Arial"/>
              </a:rPr>
              <a:t>95%</a:t>
            </a:r>
            <a:r>
              <a:rPr sz="1200" b="0">
                <a:solidFill>
                  <a:srgbClr val="3D4B5A"/>
                </a:solidFill>
                <a:latin typeface="Arial"/>
              </a:rPr>
              <a:t> de las filas: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76818"/>
          <a:ext cx="5373471" cy="1536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86735"/>
                <a:gridCol w="2686736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7183"/>
                          </a:solidFill>
                          <a:latin typeface="Consolas"/>
                        </a:rPr>
                        <a:t>SUFIJO DEL TÍTULO</a:t>
                      </a:r>
                    </a:p>
                  </a:txBody>
                  <a:tcPr marL="82296" marR="82296" marT="54864" marB="54864" anchor="ctr">
                    <a:lnB w="254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7183"/>
                          </a:solidFill>
                          <a:latin typeface="Consolas"/>
                        </a:rPr>
                        <a:t>BTR</a:t>
                      </a:r>
                    </a:p>
                  </a:txBody>
                  <a:tcPr marL="82296" marR="82296" marT="54864" marB="54864" anchor="ctr">
                    <a:lnB w="254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#1 Pick · Top Rated · Best Seller · Customer Favorite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E9B7E"/>
                          </a:solidFill>
                          <a:latin typeface="Consolas"/>
                        </a:rPr>
                        <a:t>0.63–0.68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Popular Choice · Highly Rated · Shopper Favorite · Well Reviewed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Consolas"/>
                        </a:rPr>
                        <a:t>0.02–0.04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los 11 restantes · sin sufijo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42A63"/>
                          </a:solidFill>
                          <a:latin typeface="Consolas"/>
                        </a:rPr>
                        <a:t>0.000 exacto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641026"/>
            <a:ext cx="5373471" cy="64846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3641026"/>
            <a:ext cx="45720" cy="648462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759898"/>
            <a:ext cx="5053431" cy="410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7242C"/>
                </a:solidFill>
                <a:latin typeface="Arial"/>
              </a:rPr>
              <a:t>No es sentimiento</a:t>
            </a:r>
            <a:r>
              <a:rPr sz="1250" b="0">
                <a:solidFill>
                  <a:srgbClr val="17242C"/>
                </a:solidFill>
                <a:latin typeface="Arial"/>
              </a:rPr>
              <a:t>: "Highly Rated" compra </a:t>
            </a:r>
            <a:r>
              <a:rPr sz="1250" b="1">
                <a:solidFill>
                  <a:srgbClr val="17242C"/>
                </a:solidFill>
                <a:latin typeface="Arial"/>
              </a:rPr>
              <a:t>50× menos</a:t>
            </a:r>
            <a:r>
              <a:rPr sz="1250" b="0">
                <a:solidFill>
                  <a:srgbClr val="17242C"/>
                </a:solidFill>
                <a:latin typeface="Arial"/>
              </a:rPr>
              <a:t> que "Top Rated".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1295" y="1697012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79311" y="1825028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PRECIO: GANA EL DEL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11" y="2044484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0.39 · 0.86 · 0.43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2465108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barato · medio · caro dentro del rango buscado — el del medio vende el doble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1295" y="2958884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79311" y="3086900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TIMESTAMPS ROTOS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3306356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hasta 2 años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3726980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dentro de una misma búsqueda → quedan afuera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295" y="4220756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79311" y="4348772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REDUNDANCIAS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4568228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3 columnas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4988852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package_size ≡ peso · dimensions ≡ envase · description repite el sufijo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06 · FEATURES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Qué entra al modelo, y cómo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646453"/>
            <a:ext cx="5373471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1801901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7 CATEGÓRICAS   </a:t>
            </a:r>
            <a:r>
              <a:rPr sz="900" b="0">
                <a:solidFill>
                  <a:srgbClr val="5F7183"/>
                </a:solidFill>
                <a:latin typeface="Arial"/>
              </a:rPr>
              <a:t>cada nivel → un número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076221"/>
            <a:ext cx="3387852" cy="274320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 w="12700">
            <a:solidFill>
              <a:srgbClr val="0E9B7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" y="2076221"/>
            <a:ext cx="33878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listing_status derivada · regex al sufijo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092" y="2076221"/>
            <a:ext cx="822960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65092" y="2076221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2916" y="2076221"/>
            <a:ext cx="58978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42916" y="2076221"/>
            <a:ext cx="5897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brand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414549"/>
            <a:ext cx="1133856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2376" y="2414549"/>
            <a:ext cx="11338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storage_type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6" y="2414549"/>
            <a:ext cx="136702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911096" y="2414549"/>
            <a:ext cx="13670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unit_of_measure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2988" y="2414549"/>
            <a:ext cx="1522476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32988" y="2414549"/>
            <a:ext cx="15224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country_of_origin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2752877"/>
            <a:ext cx="90068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2376" y="2752877"/>
            <a:ext cx="9006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allergens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1295" y="1646453"/>
            <a:ext cx="5373471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6743" y="1801901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6 NUMÉRICAS   </a:t>
            </a:r>
            <a:r>
              <a:rPr sz="900" b="0">
                <a:solidFill>
                  <a:srgbClr val="5F7183"/>
                </a:solidFill>
                <a:latin typeface="Arial"/>
              </a:rPr>
              <a:t>escaladas a media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6743" y="2076221"/>
            <a:ext cx="58978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6743" y="2076221"/>
            <a:ext cx="5897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price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1395" y="2076221"/>
            <a:ext cx="3387852" cy="274320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 w="12700">
            <a:solidFill>
              <a:srgbClr val="0E9B7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51395" y="2076221"/>
            <a:ext cx="33878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price_rel derivada · posición en el rango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6743" y="2414549"/>
            <a:ext cx="1444752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6743" y="2414549"/>
            <a:ext cx="14447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filter_price_min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6359" y="2414549"/>
            <a:ext cx="1444752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06359" y="2414549"/>
            <a:ext cx="14447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filter_price_max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5975" y="2414549"/>
            <a:ext cx="1211580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405975" y="2414549"/>
            <a:ext cx="12115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net_weight_oz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6743" y="2752877"/>
            <a:ext cx="136702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6743" y="2752877"/>
            <a:ext cx="13670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nutrition_score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3383813"/>
            <a:ext cx="11057839" cy="1587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2376" y="3539261"/>
            <a:ext cx="107469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AFUERA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" y="3813581"/>
            <a:ext cx="1133856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2376" y="3813581"/>
            <a:ext cx="11338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cart leakage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11096" y="3813581"/>
            <a:ext cx="206654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911096" y="3813581"/>
            <a:ext cx="20665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query_id solo particiona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2504" y="3813581"/>
            <a:ext cx="128930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32504" y="3813581"/>
            <a:ext cx="1289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timestamp roto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2" y="3813581"/>
            <a:ext cx="214426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376672" y="3813581"/>
            <a:ext cx="2144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filter_category constante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75804" y="3813581"/>
            <a:ext cx="245516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75804" y="3813581"/>
            <a:ext cx="24551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filter_storage_type constante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" y="4151909"/>
            <a:ext cx="167792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22376" y="4151909"/>
            <a:ext cx="16779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package_size ≡ peso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55164" y="4151909"/>
            <a:ext cx="1677924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455164" y="4151909"/>
            <a:ext cx="16779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dimensions ≡ envase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87952" y="4151909"/>
            <a:ext cx="1755648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87952" y="4151909"/>
            <a:ext cx="17556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description ≡ sufijo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98464" y="4151909"/>
            <a:ext cx="1911096" cy="274320"/>
          </a:xfrm>
          <a:prstGeom prst="roundRect">
            <a:avLst>
              <a:gd name="adj" fmla="val 6000"/>
            </a:avLst>
          </a:prstGeom>
          <a:solidFill>
            <a:srgbClr val="EFF3F5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998464" y="4151909"/>
            <a:ext cx="19110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7242C"/>
                </a:solidFill>
                <a:latin typeface="Consolas"/>
              </a:rPr>
              <a:t>ingredients redundante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4535957"/>
            <a:ext cx="10746943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D4B5A"/>
                </a:solidFill>
                <a:latin typeface="Arial"/>
              </a:rPr>
              <a:t>cada descarte verificado por ablación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3383813"/>
            <a:ext cx="45720" cy="1587398"/>
          </a:xfrm>
          <a:prstGeom prst="rect">
            <a:avLst/>
          </a:prstGeom>
          <a:solidFill>
            <a:srgbClr val="D42A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6928" y="5062651"/>
            <a:ext cx="11057839" cy="45224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66928" y="5062651"/>
            <a:ext cx="45720" cy="45224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181523"/>
            <a:ext cx="10737799" cy="214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Todo se ajusta </a:t>
            </a:r>
            <a:r>
              <a:rPr sz="1250" b="1">
                <a:solidFill>
                  <a:srgbClr val="17242C"/>
                </a:solidFill>
                <a:latin typeface="Arial"/>
              </a:rPr>
              <a:t>solo con train</a:t>
            </a:r>
            <a:r>
              <a:rPr sz="125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07 · LA DISCUSIÓN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¿Es válido usar "Best Seller"? → dos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77999"/>
            <a:ext cx="53734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Los badges se asignan </a:t>
            </a:r>
            <a:r>
              <a:rPr sz="1200" b="0">
                <a:solidFill>
                  <a:srgbClr val="3D4B5A"/>
                </a:solidFill>
                <a:latin typeface="Arial"/>
              </a:rPr>
              <a:t>después</a:t>
            </a:r>
            <a:r>
              <a:rPr sz="1200" b="0">
                <a:solidFill>
                  <a:srgbClr val="3D4B5A"/>
                </a:solidFill>
                <a:latin typeface="Arial"/>
              </a:rPr>
              <a:t> de vender mucho — ¿circular? Tres clases de información: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46171"/>
            <a:ext cx="5373471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Outcome del mismo evento</a:t>
            </a:r>
            <a:r>
              <a:rPr sz="1200" b="0">
                <a:solidFill>
                  <a:srgbClr val="3D4B5A"/>
                </a:solidFill>
                <a:latin typeface="Arial"/>
              </a:rPr>
              <a:t> (</a:t>
            </a:r>
            <a:r>
              <a:rPr sz="1200" b="0">
                <a:solidFill>
                  <a:srgbClr val="17242C"/>
                </a:solidFill>
                <a:latin typeface="Consolas"/>
              </a:rPr>
              <a:t>cart</a:t>
            </a:r>
            <a:r>
              <a:rPr sz="1200" b="0">
                <a:solidFill>
                  <a:srgbClr val="3D4B5A"/>
                </a:solidFill>
                <a:latin typeface="Arial"/>
              </a:rPr>
              <a:t>) → leakage, nunca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16833"/>
            <a:ext cx="5373471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Estado al momento de la impresión</a:t>
            </a:r>
            <a:r>
              <a:rPr sz="1200" b="0">
                <a:solidFill>
                  <a:srgbClr val="3D4B5A"/>
                </a:solidFill>
                <a:latin typeface="Arial"/>
              </a:rPr>
              <a:t> (badges) → disponible al predecir · pero circular para promover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75861"/>
            <a:ext cx="5373471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Atributos intrínsecos</a:t>
            </a:r>
            <a:r>
              <a:rPr sz="1200" b="0">
                <a:solidFill>
                  <a:srgbClr val="3D4B5A"/>
                </a:solidFill>
                <a:latin typeface="Arial"/>
              </a:rPr>
              <a:t> → válidos siempre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1295" y="1977999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79311" y="2106015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FAMILIA CATÁLOGO · CON 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9311" y="2325471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E9B7E"/>
                </a:solidFill>
                <a:latin typeface="Arial"/>
              </a:rPr>
              <a:t>~0.82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11" y="2746095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qué promocionar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1295" y="3239871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9311" y="3367887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FAMILIA INTRÍNSECA · SIN ESTADO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11" y="3587343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D42A63"/>
                </a:solidFill>
                <a:latin typeface="Arial"/>
              </a:rPr>
              <a:t>~0.16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4007967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qué esperar de un producto nuevo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295" y="4501743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9311" y="4629759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POR QUÉ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11" y="4849215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61%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5269839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de las filas vive en tiers de BTR = 0.000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08 · MÉTRICAS Y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Cómo medimos y cómo particionamos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48509"/>
            <a:ext cx="5373471" cy="17739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3003957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278277"/>
            <a:ext cx="5062575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PR-AUC</a:t>
            </a:r>
            <a:r>
              <a:rPr sz="1200" b="0">
                <a:solidFill>
                  <a:srgbClr val="3D4B5A"/>
                </a:solidFill>
                <a:latin typeface="Arial"/>
              </a:rPr>
              <a:t> </a:t>
            </a:r>
            <a:r>
              <a:rPr sz="1200" b="0">
                <a:solidFill>
                  <a:srgbClr val="3D4B5A"/>
                </a:solidFill>
                <a:latin typeface="Arial"/>
              </a:rPr>
              <a:t>precisión–recall</a:t>
            </a:r>
            <a:r>
              <a:rPr sz="1200" b="0">
                <a:solidFill>
                  <a:srgbClr val="3D4B5A"/>
                </a:solidFill>
                <a:latin typeface="Arial"/>
              </a:rPr>
              <a:t> — mide qué tan bien </a:t>
            </a:r>
            <a:r>
              <a:rPr sz="1200" b="1">
                <a:solidFill>
                  <a:srgbClr val="3D4B5A"/>
                </a:solidFill>
                <a:latin typeface="Arial"/>
              </a:rPr>
              <a:t>ordena</a:t>
            </a:r>
            <a:r>
              <a:rPr sz="1200" b="0">
                <a:solidFill>
                  <a:srgbClr val="3D4B5A"/>
                </a:solidFill>
                <a:latin typeface="Arial"/>
              </a:rPr>
              <a:t>, sin elegir umbral · el azar da </a:t>
            </a:r>
            <a:r>
              <a:rPr sz="1200" b="1">
                <a:solidFill>
                  <a:srgbClr val="3D4B5A"/>
                </a:solidFill>
                <a:latin typeface="Arial"/>
              </a:rPr>
              <a:t>0.131</a:t>
            </a:r>
            <a:r>
              <a:rPr sz="1200" b="0">
                <a:solidFill>
                  <a:srgbClr val="3D4B5A"/>
                </a:solidFill>
                <a:latin typeface="Arial"/>
              </a:rPr>
              <a:t>, la tasa de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737305"/>
            <a:ext cx="5062575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Accuracy no sirve</a:t>
            </a:r>
            <a:r>
              <a:rPr sz="1200" b="0">
                <a:solidFill>
                  <a:srgbClr val="3D4B5A"/>
                </a:solidFill>
                <a:latin typeface="Arial"/>
              </a:rPr>
              <a:t> con 13% de positivos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07967"/>
            <a:ext cx="5062575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Sin umbral</a:t>
            </a:r>
            <a:r>
              <a:rPr sz="1200" b="0">
                <a:solidFill>
                  <a:srgbClr val="3D4B5A"/>
                </a:solidFill>
                <a:latin typeface="Arial"/>
              </a:rPr>
              <a:t>: el uso es ranking — el F1 máximo cae en </a:t>
            </a:r>
            <a:r>
              <a:rPr sz="1200" b="1">
                <a:solidFill>
                  <a:srgbClr val="3D4B5A"/>
                </a:solidFill>
                <a:latin typeface="Arial"/>
              </a:rPr>
              <a:t>0.40</a:t>
            </a:r>
            <a:r>
              <a:rPr sz="1200" b="0">
                <a:solidFill>
                  <a:srgbClr val="3D4B5A"/>
                </a:solidFill>
                <a:latin typeface="Arial"/>
              </a:rPr>
              <a:t>, no en 0.5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1295" y="2848509"/>
            <a:ext cx="5373471" cy="20445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6743" y="3003957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6743" y="3278277"/>
            <a:ext cx="5062575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Partición por </a:t>
            </a:r>
            <a:r>
              <a:rPr sz="1200" b="0">
                <a:solidFill>
                  <a:srgbClr val="17242C"/>
                </a:solidFill>
                <a:latin typeface="Consolas"/>
              </a:rPr>
              <a:t>query_id</a:t>
            </a:r>
            <a:r>
              <a:rPr sz="1200" b="0">
                <a:solidFill>
                  <a:srgbClr val="3D4B5A"/>
                </a:solidFill>
                <a:latin typeface="Arial"/>
              </a:rPr>
              <a:t> </a:t>
            </a:r>
            <a:r>
              <a:rPr sz="1200" b="1">
                <a:solidFill>
                  <a:srgbClr val="3D4B5A"/>
                </a:solidFill>
                <a:latin typeface="Arial"/>
              </a:rPr>
              <a:t>70/15/15</a:t>
            </a:r>
            <a:r>
              <a:rPr sz="1200" b="0">
                <a:solidFill>
                  <a:srgbClr val="3D4B5A"/>
                </a:solidFill>
                <a:latin typeface="Arial"/>
              </a:rPr>
              <a:t> — una búsqueda entera del mismo 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6743" y="3737305"/>
            <a:ext cx="5062575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6 seeds</a:t>
            </a:r>
            <a:r>
              <a:rPr sz="1200" b="0">
                <a:solidFill>
                  <a:srgbClr val="3D4B5A"/>
                </a:solidFill>
                <a:latin typeface="Arial"/>
              </a:rPr>
              <a:t> por configuración · GroupKFold 5×6 al cierre: </a:t>
            </a:r>
            <a:r>
              <a:rPr sz="1200" b="1">
                <a:solidFill>
                  <a:srgbClr val="3D4B5A"/>
                </a:solidFill>
                <a:latin typeface="Arial"/>
              </a:rPr>
              <a:t>0.821 ± 0.012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6743" y="4196333"/>
            <a:ext cx="5062575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Early stopping por PR-AUC de </a:t>
            </a:r>
            <a:r>
              <a:rPr sz="1200" b="1">
                <a:solidFill>
                  <a:srgbClr val="3D4B5A"/>
                </a:solidFill>
                <a:latin typeface="Arial"/>
              </a:rPr>
              <a:t>validación</a:t>
            </a:r>
            <a:r>
              <a:rPr sz="1200" b="0">
                <a:solidFill>
                  <a:srgbClr val="3D4B5A"/>
                </a:solidFill>
                <a:latin typeface="Arial"/>
              </a:rPr>
              <a:t>, paciencia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4466995"/>
            <a:ext cx="5062575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Hiperparámetros con validación; test </a:t>
            </a:r>
            <a:r>
              <a:rPr sz="1200" b="1">
                <a:solidFill>
                  <a:srgbClr val="3D4B5A"/>
                </a:solidFill>
                <a:latin typeface="Arial"/>
              </a:rPr>
              <a:t>solo se reporta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2E4450"/>
                </a:solidFill>
                <a:latin typeface="Consola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97180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7F6"/>
                </a:solidFill>
                <a:latin typeface="Arial"/>
              </a:rPr>
              <a:t>El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84048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13308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6B1"/>
                </a:solidFill>
                <a:latin typeface="Arial"/>
              </a:rPr>
              <a:t>Dónde va el transformer, y por qué ahí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10 · ARQUITECTURA · DÓNDE VA EL TRANSFORMER Y POR QUÉ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Cada feature es un token (FT-Transformer)</a:t>
            </a:r>
          </a:p>
        </p:txBody>
      </p:sp>
      <p:pic>
        <p:nvPicPr>
          <p:cNvPr id="4" name="Picture 3" descr="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01007"/>
            <a:ext cx="11057838" cy="41396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11 · ALTERNATIVAS CONSIDERADAS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Dónde MÁS podía ir el transformer — y por qué no como 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522448"/>
          <a:ext cx="11057839" cy="1536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85946"/>
                <a:gridCol w="3685946"/>
                <a:gridCol w="3685947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7183"/>
                          </a:solidFill>
                          <a:latin typeface="Consolas"/>
                        </a:rPr>
                        <a:t>ALTERNATIVA</a:t>
                      </a:r>
                    </a:p>
                  </a:txBody>
                  <a:tcPr marL="82296" marR="82296" marT="54864" marB="54864" anchor="ctr">
                    <a:lnB w="254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7183"/>
                          </a:solidFill>
                          <a:latin typeface="Consolas"/>
                        </a:rPr>
                        <a:t>LA IDEA</a:t>
                      </a:r>
                    </a:p>
                  </a:txBody>
                  <a:tcPr marL="82296" marR="82296" marT="54864" marB="54864" anchor="ctr">
                    <a:lnB w="254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5F7183"/>
                          </a:solidFill>
                          <a:latin typeface="Consolas"/>
                        </a:rPr>
                        <a:t>POR QUÉ NO COMO BASE</a:t>
                      </a:r>
                    </a:p>
                  </a:txBody>
                  <a:tcPr marL="82296" marR="82296" marT="54864" marB="54864" anchor="ctr">
                    <a:lnB w="254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4B5A"/>
                          </a:solidFill>
                          <a:latin typeface="Arial"/>
                        </a:rPr>
                        <a:t>Texto crudo como tokens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Caracteres de título+descripción; que descubra la señal solo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La señal se extrae con una regex; atención 257² para eso es cara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4B5A"/>
                          </a:solidFill>
                          <a:latin typeface="Arial"/>
                        </a:rPr>
                        <a:t>Productos de la página como tokens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Modelar la competencia dentro de la búsqueda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El EDA midió competencia débil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4B5A"/>
                          </a:solidFill>
                          <a:latin typeface="Arial"/>
                        </a:rPr>
                        <a:t>Transformer como encoder de texto</a:t>
                      </a:r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 + MLP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El transformer produce un embedding; clasifica un MLP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D4B5A"/>
                          </a:solidFill>
                          <a:latin typeface="Arial"/>
                        </a:rPr>
                        <a:t>Comprime la señal antes de decidir</a:t>
                      </a:r>
                    </a:p>
                  </a:txBody>
                  <a:tcPr marL="82296" marR="82296" marT="54864" marB="54864" anchor="ctr">
                    <a:lnB w="12700" cap="flat" cmpd="sng" algn="ctr">
                      <a:solidFill>
                        <a:srgbClr val="D8DF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186656"/>
            <a:ext cx="11057839" cy="45224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4186656"/>
            <a:ext cx="45720" cy="45224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05528"/>
            <a:ext cx="10737799" cy="214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No las descartamos en papel: </a:t>
            </a:r>
            <a:r>
              <a:rPr sz="1250" b="1">
                <a:solidFill>
                  <a:srgbClr val="17242C"/>
                </a:solidFill>
                <a:latin typeface="Arial"/>
              </a:rPr>
              <a:t>las implementamos y corrimos todas</a:t>
            </a:r>
            <a:r>
              <a:rPr sz="125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12 ·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La vara, antes del transformer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481681"/>
            <a:ext cx="265473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2609697"/>
            <a:ext cx="23986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29153"/>
            <a:ext cx="2398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0.698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249777"/>
            <a:ext cx="23986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la vara lineal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63" y="2481681"/>
            <a:ext cx="265473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95979" y="2609697"/>
            <a:ext cx="23986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MLP (MISMOS EMBEDDINGS)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5979" y="2829153"/>
            <a:ext cx="2398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0.746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979" y="3249777"/>
            <a:ext cx="23986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no-lineal sin atención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8998" y="2481681"/>
            <a:ext cx="265473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7014" y="2609697"/>
            <a:ext cx="23986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7014" y="2829153"/>
            <a:ext cx="2398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0.762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4" y="3249777"/>
            <a:ext cx="23986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árboles con interacciones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033" y="2481681"/>
            <a:ext cx="265473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98049" y="2609697"/>
            <a:ext cx="23986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AZAR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049" y="2829153"/>
            <a:ext cx="2398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0.131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049" y="3249777"/>
            <a:ext cx="23986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tasa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34993"/>
            <a:ext cx="11057839" cy="64846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3834993"/>
            <a:ext cx="45720" cy="648462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53865"/>
            <a:ext cx="10737799" cy="410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Regla de honestidad: si el transformer no supera esto, </a:t>
            </a:r>
            <a:r>
              <a:rPr sz="1250" b="1">
                <a:solidFill>
                  <a:srgbClr val="17242C"/>
                </a:solidFill>
                <a:latin typeface="Arial"/>
              </a:rPr>
              <a:t>la capa de atención no se justifica</a:t>
            </a:r>
            <a:r>
              <a:rPr sz="1250" b="0">
                <a:solidFill>
                  <a:srgbClr val="17242C"/>
                </a:solidFill>
                <a:latin typeface="Arial"/>
              </a:rPr>
              <a:t>. Mismo split, mismas métricas, mismos 6 seeds.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5156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2E4450"/>
                </a:solidFill>
                <a:latin typeface="Consola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9456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7F6"/>
                </a:solidFill>
                <a:latin typeface="Arial"/>
              </a:rPr>
              <a:t>Los experimentos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06324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35584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6B1"/>
                </a:solidFill>
                <a:latin typeface="Arial"/>
              </a:rPr>
              <a:t>Siete preguntas — cada una mueve </a:t>
            </a:r>
            <a:r>
              <a:rPr sz="1400" b="1">
                <a:solidFill>
                  <a:srgbClr val="93A6B1"/>
                </a:solidFill>
                <a:latin typeface="Arial"/>
              </a:rPr>
              <a:t>un solo eje</a:t>
            </a:r>
            <a:r>
              <a:rPr sz="1400" b="0">
                <a:solidFill>
                  <a:srgbClr val="93A6B1"/>
                </a:solidFill>
                <a:latin typeface="Arial"/>
              </a:rPr>
              <a:t> sobre esta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31336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d_model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3831336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Tamaño del vector de cada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78224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4 cabezas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078224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Miradas paralelas en la atención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25112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2 bloques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4325112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Veces que se repite atención +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72000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dropout 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572000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Apaga 10% de conexiones al entrenar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18888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AdamW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4818888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El optimizador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831336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learning rate 1e-3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1767" y="3831336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Tamaño del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078224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weight decay 0.01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1767" y="4078224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Penaliza pesos grandes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325112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batch 256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4325112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Filas por corrección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4572000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paciencia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1767" y="4572000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Corta si validación no mejora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818888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6E4DF"/>
                </a:solidFill>
                <a:latin typeface="Consolas"/>
              </a:rPr>
              <a:t>6 seeds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1767" y="4818888"/>
            <a:ext cx="379155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195A1"/>
                </a:solidFill>
                <a:latin typeface="Arial"/>
              </a:rPr>
              <a:t>6 inicializaciones distintas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14 · EXPERIMENTO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¿La atención aporta?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57475"/>
            <a:ext cx="53734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Transformer vs MLP </a:t>
            </a:r>
            <a:r>
              <a:rPr sz="1200" b="1">
                <a:solidFill>
                  <a:srgbClr val="3D4B5A"/>
                </a:solidFill>
                <a:latin typeface="Arial"/>
              </a:rPr>
              <a:t>con la misma entrada</a:t>
            </a:r>
            <a:r>
              <a:rPr sz="1200" b="0">
                <a:solidFill>
                  <a:srgbClr val="3D4B5A"/>
                </a:solidFill>
                <a:latin typeface="Arial"/>
              </a:rPr>
              <a:t>, apareado por seed. Lo único que cambia es qué mezcla los tokens.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25647"/>
            <a:ext cx="5373471" cy="483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D4B5A"/>
                </a:solidFill>
                <a:latin typeface="Arial"/>
              </a:rPr>
              <a:t>Δ = </a:t>
            </a:r>
            <a:r>
              <a:rPr sz="1250" b="1">
                <a:solidFill>
                  <a:srgbClr val="0E9B7E"/>
                </a:solidFill>
                <a:latin typeface="Arial"/>
              </a:rPr>
              <a:t>+0.048</a:t>
            </a:r>
            <a:r>
              <a:rPr sz="1250" b="0">
                <a:solidFill>
                  <a:srgbClr val="3D4B5A"/>
                </a:solidFill>
                <a:latin typeface="Arial"/>
              </a:rPr>
              <a:t> · gana </a:t>
            </a:r>
            <a:r>
              <a:rPr sz="1250" b="1">
                <a:solidFill>
                  <a:srgbClr val="3D4B5A"/>
                </a:solidFill>
                <a:latin typeface="Arial"/>
              </a:rPr>
              <a:t>5/6</a:t>
            </a:r>
            <a:r>
              <a:rPr sz="1250" b="0">
                <a:solidFill>
                  <a:srgbClr val="3D4B5A"/>
                </a:solidFill>
                <a:latin typeface="Arial"/>
              </a:rPr>
              <a:t> seeds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D4B5A"/>
                </a:solidFill>
                <a:latin typeface="Arial"/>
              </a:rPr>
              <a:t> con el MLP teniendo </a:t>
            </a:r>
            <a:r>
              <a:rPr sz="1250" b="1">
                <a:solidFill>
                  <a:srgbClr val="3D4B5A"/>
                </a:solidFill>
                <a:latin typeface="Arial"/>
              </a:rPr>
              <a:t>4,5×</a:t>
            </a:r>
            <a:r>
              <a:rPr sz="1250" b="0">
                <a:solidFill>
                  <a:srgbClr val="3D4B5A"/>
                </a:solidFill>
                <a:latin typeface="Arial"/>
              </a:rPr>
              <a:t> más parámetros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1295" y="2357475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79311" y="2485491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CONTRA EL MEJOR MLP (ONE-HOT, 0.797)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9311" y="2704947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E9B7E"/>
                </a:solidFill>
                <a:latin typeface="Arial"/>
              </a:rPr>
              <a:t>+0.027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9311" y="3125571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gana igual, con la vara más alta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3619347"/>
            <a:ext cx="5373471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79311" y="3747363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¿SOLO DESCUBRIÓ EL CRUCE PRECIO × TIER?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3966819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9311" y="4387443"/>
            <a:ext cx="51174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F7183"/>
                </a:solidFill>
                <a:latin typeface="Arial"/>
              </a:rPr>
              <a:t>dárselo a mano a la logística explica solo esa fracción del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6163056"/>
            <a:ext cx="84838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7972" y="6144768"/>
            <a:ext cx="1796795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27972" y="6144768"/>
            <a:ext cx="179679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atención vs MLP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15 · EXPERIMENTO 2 · CABEZAS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¿Cuántas cabezas de atención?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6" y="1359103"/>
            <a:ext cx="6267647" cy="395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1359103"/>
            <a:ext cx="408383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E9B7E"/>
                </a:solidFill>
                <a:latin typeface="Consola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2072335"/>
            <a:ext cx="4083838" cy="2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7183"/>
                </a:solidFill>
                <a:latin typeface="Arial"/>
              </a:rPr>
              <a:t>cabezas — 0.824 contra 0.800 con una 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2474899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Multi-head = varias consultas en subespacios distintos, en paralelo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0928" y="2933927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Con </a:t>
            </a:r>
            <a:r>
              <a:rPr sz="1200" b="1">
                <a:solidFill>
                  <a:srgbClr val="3D4B5A"/>
                </a:solidFill>
                <a:latin typeface="Arial"/>
              </a:rPr>
              <a:t>embeddings</a:t>
            </a:r>
            <a:r>
              <a:rPr sz="1200" b="0">
                <a:solidFill>
                  <a:srgbClr val="3D4B5A"/>
                </a:solidFill>
                <a:latin typeface="Arial"/>
              </a:rPr>
              <a:t> la respuesta se da vuelta: gana </a:t>
            </a:r>
            <a:r>
              <a:rPr sz="1200" b="1">
                <a:solidFill>
                  <a:srgbClr val="3D4B5A"/>
                </a:solidFill>
                <a:latin typeface="Arial"/>
              </a:rPr>
              <a:t>1</a:t>
            </a:r>
            <a:r>
              <a:rPr sz="1200" b="0">
                <a:solidFill>
                  <a:srgbClr val="3D4B5A"/>
                </a:solidFill>
                <a:latin typeface="Arial"/>
              </a:rPr>
              <a:t> cabeza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0928" y="3392955"/>
            <a:ext cx="4083838" cy="64846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540928" y="3392955"/>
            <a:ext cx="45720" cy="648462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3808" y="3511827"/>
            <a:ext cx="3763798" cy="410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El eje </a:t>
            </a:r>
            <a:r>
              <a:rPr sz="1250" b="1">
                <a:solidFill>
                  <a:srgbClr val="17242C"/>
                </a:solidFill>
                <a:latin typeface="Arial"/>
              </a:rPr>
              <a:t>interactúa con el encoding</a:t>
            </a:r>
            <a:r>
              <a:rPr sz="1250" b="0">
                <a:solidFill>
                  <a:srgbClr val="17242C"/>
                </a:solidFill>
                <a:latin typeface="Arial"/>
              </a:rPr>
              <a:t>: ninguna decisión se hereda de otra 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6163056"/>
            <a:ext cx="83466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0811" y="6144768"/>
            <a:ext cx="1933956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0811" y="6144768"/>
            <a:ext cx="19339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cabezas 1 / 2 /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16 · EXPERIMENTO 3 · BLOQUES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¿Cuánta profundidad?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6" y="1359103"/>
            <a:ext cx="6267647" cy="395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1359103"/>
            <a:ext cx="408383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E9B7E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2072335"/>
            <a:ext cx="4083838" cy="3845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7183"/>
                </a:solidFill>
                <a:latin typeface="Arial"/>
              </a:rPr>
              <a:t>bloques — 0.824 · con 1: 0.801 · con 4: 0.811 y el doble de parámetros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2639720"/>
            <a:ext cx="4083838" cy="270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Más bloques = componer atención sobre atención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0928" y="2910382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El CLS ya concentra </a:t>
            </a:r>
            <a:r>
              <a:rPr sz="1200" b="1">
                <a:solidFill>
                  <a:srgbClr val="3D4B5A"/>
                </a:solidFill>
                <a:latin typeface="Arial"/>
              </a:rPr>
              <a:t>0.75</a:t>
            </a:r>
            <a:r>
              <a:rPr sz="1200" b="0">
                <a:solidFill>
                  <a:srgbClr val="3D4B5A"/>
                </a:solidFill>
                <a:latin typeface="Arial"/>
              </a:rPr>
              <a:t> de su atención en la </a:t>
            </a:r>
            <a:r>
              <a:rPr sz="1200" b="1">
                <a:solidFill>
                  <a:srgbClr val="3D4B5A"/>
                </a:solidFill>
                <a:latin typeface="Arial"/>
              </a:rPr>
              <a:t>capa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0928" y="3369410"/>
            <a:ext cx="4083838" cy="45224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540928" y="3369410"/>
            <a:ext cx="45720" cy="45224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3808" y="3488282"/>
            <a:ext cx="3763798" cy="214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La profundidad no era el eje.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6163056"/>
            <a:ext cx="83466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optimizador AdamW · learning rate 1e-3 · weight decay 0.01 · batch 256 · dropout 0.1 · early stopping paciencia 20 · 6 seeds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0811" y="6144768"/>
            <a:ext cx="1933956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0811" y="6144768"/>
            <a:ext cx="19339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bloques 1 / 2 /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17 · EXPERIMENTO 4 · D_MODEL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¿Qué dimensión de embedding?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6" y="1359103"/>
            <a:ext cx="6267647" cy="395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1359103"/>
            <a:ext cx="408383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E9B7E"/>
                </a:solidFill>
                <a:latin typeface="Consola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2072335"/>
            <a:ext cx="4083838" cy="2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7183"/>
                </a:solidFill>
                <a:latin typeface="Arial"/>
              </a:rPr>
              <a:t>d_model — meseta amplia de d8 a d64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2474899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Dimensionar al problema, no al hábito de los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0928" y="2933927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Epílogo: d16 con 1 bloque (</a:t>
            </a:r>
            <a:r>
              <a:rPr sz="1200" b="1">
                <a:solidFill>
                  <a:srgbClr val="3D4B5A"/>
                </a:solidFill>
                <a:latin typeface="Arial"/>
              </a:rPr>
              <a:t>3.713 params</a:t>
            </a:r>
            <a:r>
              <a:rPr sz="1200" b="0">
                <a:solidFill>
                  <a:srgbClr val="3D4B5A"/>
                </a:solidFill>
                <a:latin typeface="Arial"/>
              </a:rPr>
              <a:t>) empata al campeón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0928" y="3392955"/>
            <a:ext cx="4083838" cy="64846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540928" y="3392955"/>
            <a:ext cx="45720" cy="648462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3808" y="3511827"/>
            <a:ext cx="3763798" cy="410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El experimento decisivo no era capacidad: era la </a:t>
            </a:r>
            <a:r>
              <a:rPr sz="1250" b="1">
                <a:solidFill>
                  <a:srgbClr val="17242C"/>
                </a:solidFill>
                <a:latin typeface="Arial"/>
              </a:rPr>
              <a:t>codificación de la entrada</a:t>
            </a:r>
            <a:r>
              <a:rPr sz="125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6163056"/>
            <a:ext cx="78665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0752" y="6144768"/>
            <a:ext cx="2414015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10752" y="6144768"/>
            <a:ext cx="24140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d_model 8 / 16 / 32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18 · EXPERIMENTO 5 · EL DECISIVO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Codificación de las categóricas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506" y="1359103"/>
            <a:ext cx="5550683" cy="39585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5409057"/>
            <a:ext cx="11057839" cy="45224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5409057"/>
            <a:ext cx="45720" cy="45224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527929"/>
            <a:ext cx="10737799" cy="214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Nuestra hipótesis era la </a:t>
            </a:r>
            <a:r>
              <a:rPr sz="1250" b="1">
                <a:solidFill>
                  <a:srgbClr val="17242C"/>
                </a:solidFill>
                <a:latin typeface="Arial"/>
              </a:rPr>
              <a:t>inversa</a:t>
            </a:r>
            <a:r>
              <a:rPr sz="1250" b="0">
                <a:solidFill>
                  <a:srgbClr val="17242C"/>
                </a:solidFill>
                <a:latin typeface="Arial"/>
              </a:rPr>
              <a:t>. Los datos nos corrigieron.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6163056"/>
            <a:ext cx="75236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7852" y="6144768"/>
            <a:ext cx="2756915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7852" y="6144768"/>
            <a:ext cx="27569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encoding de las 7 categóricas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19 · EXPERIMENTO 6 · INITS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¿Arrancar de pesos informados?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6" y="1359103"/>
            <a:ext cx="6267647" cy="395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1359103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La promesa del pre-entrenamiento (clase 3), en miniatura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1818131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MLM estilo BERT</a:t>
            </a:r>
            <a:r>
              <a:rPr sz="1200" b="0">
                <a:solidFill>
                  <a:srgbClr val="3D4B5A"/>
                </a:solidFill>
                <a:latin typeface="Arial"/>
              </a:rPr>
              <a:t> sobre feature-tokens: +0.011 sobre embeddings · sobre ordinal, 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2277159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w2v-init</a:t>
            </a:r>
            <a:r>
              <a:rPr sz="1200" b="0">
                <a:solidFill>
                  <a:srgbClr val="3D4B5A"/>
                </a:solidFill>
                <a:latin typeface="Arial"/>
              </a:rPr>
              <a:t> regulariza words (+0.010) sin alcanzar a chars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0928" y="2736187"/>
            <a:ext cx="4083838" cy="64846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540928" y="2736187"/>
            <a:ext cx="45720" cy="648462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3808" y="2855059"/>
            <a:ext cx="3763798" cy="410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Init aleatoria + prior ordinal </a:t>
            </a:r>
            <a:r>
              <a:rPr sz="1250" b="1">
                <a:solidFill>
                  <a:srgbClr val="17242C"/>
                </a:solidFill>
                <a:latin typeface="Arial"/>
              </a:rPr>
              <a:t>&gt;</a:t>
            </a:r>
            <a:r>
              <a:rPr sz="1250" b="0">
                <a:solidFill>
                  <a:srgbClr val="17242C"/>
                </a:solidFill>
                <a:latin typeface="Arial"/>
              </a:rPr>
              <a:t> pre-entrenar, a esta escala.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163056"/>
            <a:ext cx="766084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5011" y="6144768"/>
            <a:ext cx="2619756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05011" y="6144768"/>
            <a:ext cx="26197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inicialización de los pesos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20 · EXPERIMENTO 7 ·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¿Y el texto? Recuperable — pero redundante</a:t>
            </a:r>
          </a:p>
        </p:txBody>
      </p:sp>
      <p:pic>
        <p:nvPicPr>
          <p:cNvPr id="4" name="Picture 3" descr="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72615"/>
            <a:ext cx="6663103" cy="2174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2172615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Texto puro 0.652</a:t>
            </a:r>
            <a:r>
              <a:rPr sz="1200" b="0">
                <a:solidFill>
                  <a:srgbClr val="3D4B5A"/>
                </a:solidFill>
                <a:latin typeface="Arial"/>
              </a:rPr>
              <a:t>: encontró el sufijo solo (≫ 0.16), pero leer caracteres cuesta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2631643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Híbrido 0.705</a:t>
            </a:r>
            <a:r>
              <a:rPr sz="1200" b="0">
                <a:solidFill>
                  <a:srgbClr val="3D4B5A"/>
                </a:solidFill>
                <a:latin typeface="Arial"/>
              </a:rPr>
              <a:t>: 256 tokens de texto </a:t>
            </a:r>
            <a:r>
              <a:rPr sz="1200" b="0">
                <a:solidFill>
                  <a:srgbClr val="3D4B5A"/>
                </a:solidFill>
                <a:latin typeface="Arial"/>
              </a:rPr>
              <a:t>diluyen</a:t>
            </a:r>
            <a:r>
              <a:rPr sz="1200" b="0">
                <a:solidFill>
                  <a:srgbClr val="3D4B5A"/>
                </a:solidFill>
                <a:latin typeface="Arial"/>
              </a:rPr>
              <a:t> a los 13 que importan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3090671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Fusión</a:t>
            </a:r>
            <a:r>
              <a:rPr sz="1200" b="0">
                <a:solidFill>
                  <a:srgbClr val="3D4B5A"/>
                </a:solidFill>
                <a:latin typeface="Arial"/>
              </a:rPr>
              <a:t> (texto a UN token): cura la dilución, +0.069 · 6/6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0928" y="3549699"/>
            <a:ext cx="4083838" cy="84467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540928" y="3549699"/>
            <a:ext cx="45720" cy="84467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3808" y="3668571"/>
            <a:ext cx="3763798" cy="60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El texto es </a:t>
            </a:r>
            <a:r>
              <a:rPr sz="1250" b="1">
                <a:solidFill>
                  <a:srgbClr val="17242C"/>
                </a:solidFill>
                <a:latin typeface="Arial"/>
              </a:rPr>
              <a:t>recuperable</a:t>
            </a:r>
            <a:r>
              <a:rPr sz="1250" b="0">
                <a:solidFill>
                  <a:srgbClr val="17242C"/>
                </a:solidFill>
                <a:latin typeface="Arial"/>
              </a:rPr>
              <a:t> — el híbrido reconstruye la regex desde los caracteres — pero </a:t>
            </a:r>
            <a:r>
              <a:rPr sz="1250" b="1">
                <a:solidFill>
                  <a:srgbClr val="17242C"/>
                </a:solidFill>
                <a:latin typeface="Arial"/>
              </a:rPr>
              <a:t>redundante</a:t>
            </a:r>
            <a:r>
              <a:rPr sz="1250" b="0">
                <a:solidFill>
                  <a:srgbClr val="17242C"/>
                </a:solidFill>
                <a:latin typeface="Arial"/>
              </a:rPr>
              <a:t> si el EDA ya parseó la señal.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163056"/>
            <a:ext cx="71122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6371" y="6144768"/>
            <a:ext cx="3168396" cy="256032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12700">
            <a:solidFill>
              <a:srgbClr val="D6CD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56371" y="6144768"/>
            <a:ext cx="31683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7052C9"/>
                </a:solidFill>
                <a:latin typeface="Consolas"/>
              </a:rPr>
              <a:t>varía · qué entra: features / texto / ambos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21 · DESAFÍOS ENCONTRADOS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Cuatro que valen la pena contar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07183"/>
            <a:ext cx="5455767" cy="14794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2462631"/>
            <a:ext cx="51448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1 · EL CAUSAL DEGENERADO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736951"/>
            <a:ext cx="51448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La máscara causal dio </a:t>
            </a:r>
            <a:r>
              <a:rPr sz="1200" b="1">
                <a:solidFill>
                  <a:srgbClr val="3D4B5A"/>
                </a:solidFill>
                <a:latin typeface="Arial"/>
              </a:rPr>
              <a:t>ROC 0.500</a:t>
            </a:r>
            <a:r>
              <a:rPr sz="1200" b="0">
                <a:solidFill>
                  <a:srgbClr val="3D4B5A"/>
                </a:solidFill>
                <a:latin typeface="Arial"/>
              </a:rPr>
              <a:t>: azar puro. El </a:t>
            </a:r>
            <a:r>
              <a:rPr sz="1200" b="1">
                <a:solidFill>
                  <a:srgbClr val="3D4B5A"/>
                </a:solidFill>
                <a:latin typeface="Arial"/>
              </a:rPr>
              <a:t>[CLS]</a:t>
            </a:r>
            <a:r>
              <a:rPr sz="1200" b="0">
                <a:solidFill>
                  <a:srgbClr val="3D4B5A"/>
                </a:solidFill>
                <a:latin typeface="Arial"/>
              </a:rPr>
              <a:t> en la posición 0 solo se ve a sí mismo.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" y="3205123"/>
            <a:ext cx="5144871" cy="7315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314851"/>
            <a:ext cx="5144871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→  </a:t>
            </a:r>
            <a:r>
              <a:rPr sz="1200" b="0">
                <a:solidFill>
                  <a:srgbClr val="17242C"/>
                </a:solidFill>
                <a:latin typeface="Arial"/>
              </a:rPr>
              <a:t>El </a:t>
            </a:r>
            <a:r>
              <a:rPr sz="1200" b="1">
                <a:solidFill>
                  <a:srgbClr val="17242C"/>
                </a:solidFill>
                <a:latin typeface="Arial"/>
              </a:rPr>
              <a:t>[CLS]</a:t>
            </a:r>
            <a:r>
              <a:rPr sz="1200" b="0">
                <a:solidFill>
                  <a:srgbClr val="17242C"/>
                </a:solidFill>
                <a:latin typeface="Arial"/>
              </a:rPr>
              <a:t> al final, como GPT: </a:t>
            </a:r>
            <a:r>
              <a:rPr sz="1200" b="1">
                <a:solidFill>
                  <a:srgbClr val="0E9B7E"/>
                </a:solidFill>
                <a:latin typeface="Arial"/>
              </a:rPr>
              <a:t>0.795</a:t>
            </a:r>
            <a:r>
              <a:rPr sz="120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07183"/>
            <a:ext cx="45720" cy="1479498"/>
          </a:xfrm>
          <a:prstGeom prst="rect">
            <a:avLst/>
          </a:prstGeom>
          <a:solidFill>
            <a:srgbClr val="D42A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8999" y="2307183"/>
            <a:ext cx="5455767" cy="14794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24447" y="2462631"/>
            <a:ext cx="51448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2 · LAS TRAMPAS DEL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736951"/>
            <a:ext cx="51448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7242C"/>
                </a:solidFill>
                <a:latin typeface="Consolas"/>
              </a:rPr>
              <a:t>cart</a:t>
            </a:r>
            <a:r>
              <a:rPr sz="1200" b="0">
                <a:solidFill>
                  <a:srgbClr val="3D4B5A"/>
                </a:solidFill>
                <a:latin typeface="Arial"/>
              </a:rPr>
              <a:t> es resultado del propio evento. Los timestamps saltan </a:t>
            </a:r>
            <a:r>
              <a:rPr sz="1200" b="1">
                <a:solidFill>
                  <a:srgbClr val="3D4B5A"/>
                </a:solidFill>
                <a:latin typeface="Arial"/>
              </a:rPr>
              <a:t>dos años</a:t>
            </a:r>
            <a:r>
              <a:rPr sz="1200" b="0">
                <a:solidFill>
                  <a:srgbClr val="3D4B5A"/>
                </a:solidFill>
                <a:latin typeface="Arial"/>
              </a:rPr>
              <a:t> dentro de una misma búsqueda.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3205123"/>
            <a:ext cx="5144871" cy="7315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3314851"/>
            <a:ext cx="5144871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→  </a:t>
            </a:r>
            <a:r>
              <a:rPr sz="1200" b="0">
                <a:solidFill>
                  <a:srgbClr val="17242C"/>
                </a:solidFill>
                <a:latin typeface="Arial"/>
              </a:rPr>
              <a:t>Los detectó el </a:t>
            </a:r>
            <a:r>
              <a:rPr sz="1200" b="1">
                <a:solidFill>
                  <a:srgbClr val="17242C"/>
                </a:solidFill>
                <a:latin typeface="Arial"/>
              </a:rPr>
              <a:t>EDA</a:t>
            </a:r>
            <a:r>
              <a:rPr sz="1200" b="0">
                <a:solidFill>
                  <a:srgbClr val="17242C"/>
                </a:solidFill>
                <a:latin typeface="Arial"/>
              </a:rPr>
              <a:t>, antes de entrenar.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70807"/>
            <a:ext cx="5455767" cy="14794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2376" y="4026255"/>
            <a:ext cx="51448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3 · EL CÓMPUTO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300575"/>
            <a:ext cx="51448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D4B5A"/>
                </a:solidFill>
                <a:latin typeface="Arial"/>
              </a:rPr>
              <a:t>257 tokens</a:t>
            </a:r>
            <a:r>
              <a:rPr sz="1200" b="0">
                <a:solidFill>
                  <a:srgbClr val="3D4B5A"/>
                </a:solidFill>
                <a:latin typeface="Arial"/>
              </a:rPr>
              <a:t> por fila en la familia de texto: la atención cuesta 257². Inviable en CPU.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768747"/>
            <a:ext cx="5144871" cy="7315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4878475"/>
            <a:ext cx="5144871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→  </a:t>
            </a:r>
            <a:r>
              <a:rPr sz="1200" b="0">
                <a:solidFill>
                  <a:srgbClr val="17242C"/>
                </a:solidFill>
                <a:latin typeface="Arial"/>
              </a:rPr>
              <a:t>Suite </a:t>
            </a:r>
            <a:r>
              <a:rPr sz="1200" b="0">
                <a:solidFill>
                  <a:srgbClr val="17242C"/>
                </a:solidFill>
                <a:latin typeface="Arial"/>
              </a:rPr>
              <a:t>resumible</a:t>
            </a:r>
            <a:r>
              <a:rPr sz="1200" b="0">
                <a:solidFill>
                  <a:srgbClr val="17242C"/>
                </a:solidFill>
                <a:latin typeface="Arial"/>
              </a:rPr>
              <a:t> en GPU: </a:t>
            </a:r>
            <a:r>
              <a:rPr sz="1200" b="1">
                <a:solidFill>
                  <a:srgbClr val="17242C"/>
                </a:solidFill>
                <a:latin typeface="Arial"/>
              </a:rPr>
              <a:t>838 corridas</a:t>
            </a:r>
            <a:r>
              <a:rPr sz="120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870807"/>
            <a:ext cx="5455767" cy="14794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4447" y="4026255"/>
            <a:ext cx="51448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4 · LAS HIPÓTESIS REFUTADAS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300575"/>
            <a:ext cx="5144871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Cinco que dimos por buenas y los datos negaron — la última: que el embedding le ganaría al ordinal.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4768747"/>
            <a:ext cx="5144871" cy="7315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447" y="4878475"/>
            <a:ext cx="5144871" cy="2798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→  </a:t>
            </a:r>
            <a:r>
              <a:rPr sz="1200" b="0">
                <a:solidFill>
                  <a:srgbClr val="17242C"/>
                </a:solidFill>
                <a:latin typeface="Arial"/>
              </a:rPr>
              <a:t>Un experimento que refuta </a:t>
            </a:r>
            <a:r>
              <a:rPr sz="1200" b="1">
                <a:solidFill>
                  <a:srgbClr val="17242C"/>
                </a:solidFill>
                <a:latin typeface="Arial"/>
              </a:rPr>
              <a:t>también decide</a:t>
            </a:r>
            <a:r>
              <a:rPr sz="1200" b="0">
                <a:solidFill>
                  <a:srgbClr val="1724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600" b="1">
                <a:solidFill>
                  <a:srgbClr val="2E4450"/>
                </a:solidFill>
                <a:latin typeface="Consola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97180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7F6"/>
                </a:solidFill>
                <a:latin typeface="Arial"/>
              </a:rPr>
              <a:t>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84048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13308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6B1"/>
                </a:solidFill>
                <a:latin typeface="Arial"/>
              </a:rPr>
              <a:t>Qué quedó en pie y qué aprendimos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23 · EL MODELO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FT-Transformer con encoding ordinal — 26.177 parámetros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607667"/>
            <a:ext cx="5373471" cy="2178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1763115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037435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F7183"/>
                </a:solidFill>
                <a:latin typeface="Consolas"/>
              </a:rPr>
              <a:t>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296" y="2037435"/>
            <a:ext cx="3325215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D4B5A"/>
                </a:solidFill>
                <a:latin typeface="Arial"/>
              </a:rPr>
              <a:t>13 features + [CLS] — sin positional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284323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F7183"/>
                </a:solidFill>
                <a:latin typeface="Consolas"/>
              </a:rPr>
              <a:t>d_model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2284323"/>
            <a:ext cx="3325215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D4B5A"/>
                </a:solidFill>
                <a:latin typeface="Arial"/>
              </a:rPr>
              <a:t>32 · 4 cabezas · 2 bloques pre-LN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531211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F7183"/>
                </a:solidFill>
                <a:latin typeface="Consolas"/>
              </a:rPr>
              <a:t>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8296" y="2531211"/>
            <a:ext cx="3325215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D4B5A"/>
                </a:solidFill>
                <a:latin typeface="Arial"/>
              </a:rPr>
              <a:t>Linear(32→1) → sigmoide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87827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ELECCIÓN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162147"/>
            <a:ext cx="5062575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Empate técnico en validación entre 4 configs → desempate por </a:t>
            </a:r>
            <a:r>
              <a:rPr sz="1200" b="1">
                <a:solidFill>
                  <a:srgbClr val="3D4B5A"/>
                </a:solidFill>
                <a:latin typeface="Arial"/>
              </a:rPr>
              <a:t>parsimonia</a:t>
            </a:r>
            <a:r>
              <a:rPr sz="1200" b="0">
                <a:solidFill>
                  <a:srgbClr val="3D4B5A"/>
                </a:solidFill>
                <a:latin typeface="Arial"/>
              </a:rPr>
              <a:t> → test lo confirma después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1295" y="1607667"/>
            <a:ext cx="53734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9311" y="1735683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PR-AUC TEST · 6 SEEDS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1955139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E9B7E"/>
                </a:solidFill>
                <a:latin typeface="Arial"/>
              </a:rPr>
              <a:t>0.824 ± 0.018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295" y="2613507"/>
            <a:ext cx="53734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79311" y="2741523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GROUPKFOLD 5×6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2960979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0.821 ± 0.012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1295" y="3619347"/>
            <a:ext cx="53734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9311" y="3747363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ENSEMBLE · 2 RUTAS INDEPENDIENTES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966819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0.834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1295" y="4625187"/>
            <a:ext cx="53734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79311" y="4753203"/>
            <a:ext cx="51174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LAS VARAS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11" y="4972659"/>
            <a:ext cx="51174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42C"/>
                </a:solidFill>
                <a:latin typeface="Arial"/>
              </a:rPr>
              <a:t>GBM 0.762 · MLP 0.797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89904"/>
            <a:ext cx="11057839" cy="9144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18134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F7183"/>
                </a:solidFill>
                <a:latin typeface="Consolas"/>
              </a:rPr>
              <a:t>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6163056"/>
            <a:ext cx="923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3A2AD"/>
                </a:solidFill>
                <a:latin typeface="Consolas"/>
              </a:rPr>
              <a:t>d_model 32 · 4 cabezas · 2 bloques · optimizador AdamW · learning rate 1e-3 · weight decay 0.01 · batch 256 · dropout 0.1 · early stopping paciencia 20 · 6 seeds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82352" y="6144768"/>
            <a:ext cx="1042415" cy="256032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 w="12700">
            <a:solidFill>
              <a:srgbClr val="0E9B7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82352" y="6144768"/>
            <a:ext cx="10424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0B7A63"/>
                </a:solidFill>
                <a:latin typeface="Consolas"/>
              </a:rPr>
              <a:t>→ ~64 épocas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24 · ROBUSTEZ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Tres verificaciones sobre el modelo final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4476"/>
            <a:ext cx="6663104" cy="437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1684476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Curva de aprendizaje</a:t>
            </a:r>
            <a:r>
              <a:rPr sz="1200" b="0">
                <a:solidFill>
                  <a:srgbClr val="3D4B5A"/>
                </a:solidFill>
                <a:latin typeface="Arial"/>
              </a:rPr>
              <a:t>: casi saturada — con el </a:t>
            </a:r>
            <a:r>
              <a:rPr sz="1200" b="1">
                <a:solidFill>
                  <a:srgbClr val="3D4B5A"/>
                </a:solidFill>
                <a:latin typeface="Arial"/>
              </a:rPr>
              <a:t>75%</a:t>
            </a:r>
            <a:r>
              <a:rPr sz="1200" b="0">
                <a:solidFill>
                  <a:srgbClr val="3D4B5A"/>
                </a:solidFill>
                <a:latin typeface="Arial"/>
              </a:rPr>
              <a:t> de los datos ya supera al GBM entrenado con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2143504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Varianza</a:t>
            </a:r>
            <a:r>
              <a:rPr sz="1200" b="0">
                <a:solidFill>
                  <a:srgbClr val="3D4B5A"/>
                </a:solidFill>
                <a:latin typeface="Arial"/>
              </a:rPr>
              <a:t>: el ±0.018 es ~55% split / ~45% inicialización — el ensemble elimina esa mitad (+0.010)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2602532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1">
                <a:solidFill>
                  <a:srgbClr val="3D4B5A"/>
                </a:solidFill>
                <a:latin typeface="Arial"/>
              </a:rPr>
              <a:t>Calibración</a:t>
            </a:r>
            <a:r>
              <a:rPr sz="1200" b="0">
                <a:solidFill>
                  <a:srgbClr val="3D4B5A"/>
                </a:solidFill>
                <a:latin typeface="Arial"/>
              </a:rPr>
              <a:t>: ECE ~0.01 → el promedio de p </a:t>
            </a:r>
            <a:r>
              <a:rPr sz="1200" b="1">
                <a:solidFill>
                  <a:srgbClr val="3D4B5A"/>
                </a:solidFill>
                <a:latin typeface="Arial"/>
              </a:rPr>
              <a:t>es</a:t>
            </a:r>
            <a:r>
              <a:rPr sz="1200" b="0">
                <a:solidFill>
                  <a:srgbClr val="3D4B5A"/>
                </a:solidFill>
                <a:latin typeface="Arial"/>
              </a:rPr>
              <a:t> un BTR confiable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25 · OVERFITTING / UNDERFITTING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Las curvas de entrenamiento del modelo final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01645"/>
            <a:ext cx="6663103" cy="25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928" y="2601645"/>
            <a:ext cx="4083838" cy="647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Train sube sostenido; </a:t>
            </a:r>
            <a:r>
              <a:rPr sz="1200" b="1">
                <a:solidFill>
                  <a:srgbClr val="3D4B5A"/>
                </a:solidFill>
                <a:latin typeface="Arial"/>
              </a:rPr>
              <a:t>validación se aplana</a:t>
            </a:r>
            <a:r>
              <a:rPr sz="1200" b="0">
                <a:solidFill>
                  <a:srgbClr val="3D4B5A"/>
                </a:solidFill>
                <a:latin typeface="Arial"/>
              </a:rPr>
              <a:t> y el early stopping corta en su máximo (punteada), restaurando ese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0928" y="3249040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Gap train/val moderado y estable: ni underfitting ni overfitting descontrolado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928" y="3708068"/>
            <a:ext cx="4083838" cy="459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9B7E"/>
                </a:solidFill>
                <a:latin typeface="Arial"/>
              </a:rPr>
              <a:t>•  </a:t>
            </a:r>
            <a:r>
              <a:rPr sz="1200" b="0">
                <a:solidFill>
                  <a:srgbClr val="3D4B5A"/>
                </a:solidFill>
                <a:latin typeface="Arial"/>
              </a:rPr>
              <a:t>Gap val→test del final: </a:t>
            </a:r>
            <a:r>
              <a:rPr sz="1200" b="1">
                <a:solidFill>
                  <a:srgbClr val="3D4B5A"/>
                </a:solidFill>
                <a:latin typeface="Arial"/>
              </a:rPr>
              <a:t>0.011</a:t>
            </a:r>
            <a:r>
              <a:rPr sz="1200" b="0">
                <a:solidFill>
                  <a:srgbClr val="3D4B5A"/>
                </a:solidFill>
                <a:latin typeface="Arial"/>
              </a:rPr>
              <a:t>, el menor del top-4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26 · INTERPRETABILIDAD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¿El modelo mira donde debe? Sí — por dos vías independientes</a:t>
            </a:r>
          </a:p>
        </p:txBody>
      </p:sp>
      <p:pic>
        <p:nvPicPr>
          <p:cNvPr id="4" name="Picture 3" descr="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72" y="1359103"/>
            <a:ext cx="2824002" cy="5023409"/>
          </a:xfrm>
          <a:prstGeom prst="rect">
            <a:avLst/>
          </a:prstGeom>
        </p:spPr>
      </p:pic>
      <p:pic>
        <p:nvPicPr>
          <p:cNvPr id="5" name="Picture 4" descr="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145" y="1359103"/>
            <a:ext cx="4604790" cy="27628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24315" y="4121977"/>
            <a:ext cx="2302614" cy="1053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9763" y="4277425"/>
            <a:ext cx="19917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9763" y="4551745"/>
            <a:ext cx="1991718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el CLS pone </a:t>
            </a:r>
            <a:r>
              <a:rPr sz="1200" b="1">
                <a:solidFill>
                  <a:srgbClr val="0E9B7E"/>
                </a:solidFill>
                <a:latin typeface="Arial"/>
              </a:rPr>
              <a:t>0.75</a:t>
            </a:r>
            <a:r>
              <a:rPr sz="1200" b="0">
                <a:solidFill>
                  <a:srgbClr val="3D4B5A"/>
                </a:solidFill>
                <a:latin typeface="Arial"/>
              </a:rPr>
              <a:t> en </a:t>
            </a:r>
            <a:r>
              <a:rPr sz="1200" b="0">
                <a:solidFill>
                  <a:srgbClr val="17242C"/>
                </a:solidFill>
                <a:latin typeface="Consolas"/>
              </a:rP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3233" y="4121977"/>
            <a:ext cx="2302614" cy="1053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28681" y="4277425"/>
            <a:ext cx="19917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PERMUTACIÓN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8681" y="4551745"/>
            <a:ext cx="1991718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status </a:t>
            </a:r>
            <a:r>
              <a:rPr sz="1200" b="1">
                <a:solidFill>
                  <a:srgbClr val="0E9B7E"/>
                </a:solidFill>
                <a:latin typeface="Arial"/>
              </a:rPr>
              <a:t>+0.68</a:t>
            </a:r>
            <a:r>
              <a:rPr sz="1200" b="0">
                <a:solidFill>
                  <a:srgbClr val="3D4B5A"/>
                </a:solidFill>
                <a:latin typeface="Arial"/>
              </a:rPr>
              <a:t> · p_rel +0.14 · resto ≈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2151" y="4121977"/>
            <a:ext cx="2302614" cy="12417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477599" y="4277425"/>
            <a:ext cx="19917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599" y="4551745"/>
            <a:ext cx="1991718" cy="656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el top-1 de cada página se compró el </a:t>
            </a:r>
            <a:r>
              <a:rPr sz="1200" b="1">
                <a:solidFill>
                  <a:srgbClr val="0E9B7E"/>
                </a:solidFill>
                <a:latin typeface="Arial"/>
              </a:rPr>
              <a:t>91%</a:t>
            </a:r>
            <a:r>
              <a:rPr sz="1200" b="0">
                <a:solidFill>
                  <a:srgbClr val="3D4B5A"/>
                </a:solidFill>
                <a:latin typeface="Arial"/>
              </a:rPr>
              <a:t> de las veces </a:t>
            </a:r>
            <a:r>
              <a:rPr sz="1200" b="0">
                <a:solidFill>
                  <a:srgbClr val="3D4B5A"/>
                </a:solidFill>
                <a:latin typeface="Arial"/>
              </a:rPr>
              <a:t>(azar 27%)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27 · EJERCICIO 3 ·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08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7242C"/>
                </a:solidFill>
                <a:latin typeface="Arial"/>
              </a:rPr>
              <a:t>Personalización: p(bought | producto, búsqueda, usuario)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69821"/>
            <a:ext cx="5373471" cy="17099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2225269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EXTENSIÓN NATURAL DE NUESTRA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499589"/>
            <a:ext cx="5062575" cy="656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El </a:t>
            </a:r>
            <a:r>
              <a:rPr sz="1200" b="1">
                <a:solidFill>
                  <a:srgbClr val="3D4B5A"/>
                </a:solidFill>
                <a:latin typeface="Arial"/>
              </a:rPr>
              <a:t>historial del usuario entra como tokens</a:t>
            </a:r>
            <a:r>
              <a:rPr sz="1200" b="0">
                <a:solidFill>
                  <a:srgbClr val="3D4B5A"/>
                </a:solidFill>
                <a:latin typeface="Arial"/>
              </a:rPr>
              <a:t> — sus últimas compras, codificadas con el mismo tokenizador — y la secuencia los atiende. Estilo </a:t>
            </a:r>
            <a:r>
              <a:rPr sz="1200" b="1">
                <a:solidFill>
                  <a:srgbClr val="3D4B5A"/>
                </a:solidFill>
                <a:latin typeface="Arial"/>
              </a:rPr>
              <a:t>BST / SASRec</a:t>
            </a:r>
            <a:r>
              <a:rPr sz="1200" b="0">
                <a:solidFill>
                  <a:srgbClr val="3D4B5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156128"/>
            <a:ext cx="5062575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Cuando un producto del historial aparece en la página, la atención historial ↔ candidato sube su probabilidad.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2069821"/>
            <a:ext cx="5373471" cy="12417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6743" y="2225269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ALTERNATIVA CLÁSICA · CLASE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6743" y="2499589"/>
            <a:ext cx="5062575" cy="6565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Embeddings de usuario y producto con </a:t>
            </a:r>
            <a:r>
              <a:rPr sz="1200" b="1">
                <a:solidFill>
                  <a:srgbClr val="3D4B5A"/>
                </a:solidFill>
                <a:latin typeface="Arial"/>
              </a:rPr>
              <a:t>negative sampling</a:t>
            </a:r>
            <a:r>
              <a:rPr sz="1200" b="0">
                <a:solidFill>
                  <a:srgbClr val="3D4B5A"/>
                </a:solidFill>
                <a:latin typeface="Arial"/>
              </a:rPr>
              <a:t> (item2vec / two-tower) — útil como </a:t>
            </a:r>
            <a:r>
              <a:rPr sz="1200" b="0">
                <a:solidFill>
                  <a:srgbClr val="3D4B5A"/>
                </a:solidFill>
                <a:latin typeface="Arial"/>
              </a:rPr>
              <a:t>retrieval</a:t>
            </a:r>
            <a:r>
              <a:rPr sz="1200" b="0">
                <a:solidFill>
                  <a:srgbClr val="3D4B5A"/>
                </a:solidFill>
                <a:latin typeface="Arial"/>
              </a:rPr>
              <a:t>, con nuestro modelo como </a:t>
            </a:r>
            <a:r>
              <a:rPr sz="1200" b="0">
                <a:solidFill>
                  <a:srgbClr val="3D4B5A"/>
                </a:solidFill>
                <a:latin typeface="Arial"/>
              </a:rPr>
              <a:t>ranker</a:t>
            </a:r>
            <a:r>
              <a:rPr sz="1200" b="0">
                <a:solidFill>
                  <a:srgbClr val="3D4B5A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1295" y="3403016"/>
            <a:ext cx="5373471" cy="1053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6743" y="3558464"/>
            <a:ext cx="50625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052C9"/>
                </a:solidFill>
                <a:latin typeface="Consolas"/>
              </a:rPr>
              <a:t>COLD-START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6743" y="3832784"/>
            <a:ext cx="5062575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B5A"/>
                </a:solidFill>
                <a:latin typeface="Arial"/>
              </a:rPr>
              <a:t>Usuario sin historial = producto sin estado. El </a:t>
            </a:r>
            <a:r>
              <a:rPr sz="1200" b="1">
                <a:solidFill>
                  <a:srgbClr val="3D4B5A"/>
                </a:solidFill>
                <a:latin typeface="Arial"/>
              </a:rPr>
              <a:t>fallback es el modelo actual</a:t>
            </a:r>
            <a:r>
              <a:rPr sz="1200" b="0">
                <a:solidFill>
                  <a:srgbClr val="3D4B5A"/>
                </a:solidFill>
                <a:latin typeface="Arial"/>
              </a:rPr>
              <a:t>, que no depende del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39284"/>
            <a:ext cx="11057839" cy="452247"/>
          </a:xfrm>
          <a:prstGeom prst="roundRect">
            <a:avLst>
              <a:gd name="adj" fmla="val 6000"/>
            </a:avLst>
          </a:prstGeom>
          <a:solidFill>
            <a:srgbClr val="E4F2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6928" y="4639284"/>
            <a:ext cx="45720" cy="452247"/>
          </a:xfrm>
          <a:prstGeom prst="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758156"/>
            <a:ext cx="10737799" cy="214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7242C"/>
                </a:solidFill>
                <a:latin typeface="Arial"/>
              </a:rPr>
              <a:t>Requiere </a:t>
            </a:r>
            <a:r>
              <a:rPr sz="1250" b="1">
                <a:solidFill>
                  <a:srgbClr val="17242C"/>
                </a:solidFill>
                <a:latin typeface="Arial"/>
              </a:rPr>
              <a:t>dato nuevo</a:t>
            </a:r>
            <a:r>
              <a:rPr sz="1250" b="0">
                <a:solidFill>
                  <a:srgbClr val="17242C"/>
                </a:solidFill>
                <a:latin typeface="Arial"/>
              </a:rPr>
              <a:t>: </a:t>
            </a:r>
            <a:r>
              <a:rPr sz="1250" b="0">
                <a:solidFill>
                  <a:srgbClr val="17242C"/>
                </a:solidFill>
                <a:latin typeface="Consolas"/>
              </a:rPr>
              <a:t>user_id</a:t>
            </a:r>
            <a:r>
              <a:rPr sz="1250" b="0">
                <a:solidFill>
                  <a:srgbClr val="17242C"/>
                </a:solidFill>
                <a:latin typeface="Arial"/>
              </a:rPr>
              <a:t> + historial de eventos — el dataset no lo trae.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E9B7E"/>
                </a:solidFill>
                <a:latin typeface="Consolas"/>
              </a:rPr>
              <a:t>28 · CONCLUSIONES · CINCO, CORTAS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7840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9B7E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960120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42C"/>
                </a:solidFill>
                <a:latin typeface="Arial"/>
              </a:rPr>
              <a:t>El EDA mandó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52728"/>
            <a:ext cx="10234879" cy="66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4B5A"/>
                </a:solidFill>
                <a:latin typeface="Arial"/>
              </a:rPr>
              <a:t>La señal dominante no era ninguna columna del CSV: estaba en el sufijo del título. La sacamos con una regex y partió el dataset en tres grupos limpios.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89734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9946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9B7E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081174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42C"/>
                </a:solidFill>
                <a:latin typeface="Arial"/>
              </a:rPr>
              <a:t>La formulación valió más que el tamaño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73782"/>
            <a:ext cx="10234879" cy="66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4B5A"/>
                </a:solidFill>
                <a:latin typeface="Arial"/>
              </a:rPr>
              <a:t>El campeón tiene </a:t>
            </a:r>
            <a:r>
              <a:rPr sz="1150" b="1">
                <a:solidFill>
                  <a:srgbClr val="3D4B5A"/>
                </a:solidFill>
                <a:latin typeface="Arial"/>
              </a:rPr>
              <a:t>26.177 parámetros</a:t>
            </a:r>
            <a:r>
              <a:rPr sz="1150" b="0">
                <a:solidFill>
                  <a:srgbClr val="3D4B5A"/>
                </a:solidFill>
                <a:latin typeface="Arial"/>
              </a:rPr>
              <a:t>. Lo que movió la aguja no fue agregar capacidad, sino decidir bien qué entra al modelo y cómo se codifica.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10788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2051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9B7E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202228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42C"/>
                </a:solidFill>
                <a:latin typeface="Arial"/>
              </a:rPr>
              <a:t>La atención aporta — con vara honesta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494836"/>
            <a:ext cx="10234879" cy="66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E9B7E"/>
                </a:solidFill>
                <a:latin typeface="Arial"/>
              </a:rPr>
              <a:t>+0.048</a:t>
            </a:r>
            <a:r>
              <a:rPr sz="1150" b="0">
                <a:solidFill>
                  <a:srgbClr val="3D4B5A"/>
                </a:solidFill>
                <a:latin typeface="Arial"/>
              </a:rPr>
              <a:t> contra su gemelo sin atención, misma entrada y mismas semillas. Y </a:t>
            </a:r>
            <a:r>
              <a:rPr sz="1150" b="1">
                <a:solidFill>
                  <a:srgbClr val="3D4B5A"/>
                </a:solidFill>
                <a:latin typeface="Arial"/>
              </a:rPr>
              <a:t>+0.027</a:t>
            </a:r>
            <a:r>
              <a:rPr sz="1150" b="0">
                <a:solidFill>
                  <a:srgbClr val="3D4B5A"/>
                </a:solidFill>
                <a:latin typeface="Arial"/>
              </a:rPr>
              <a:t> contra el mejor MLP, que tiene 4,5× más parámetros.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31842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4157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9B7E"/>
                </a:solidFill>
                <a:latin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323282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42C"/>
                </a:solidFill>
                <a:latin typeface="Arial"/>
              </a:rPr>
              <a:t>El mejor encoding fue el más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615890"/>
            <a:ext cx="10234879" cy="66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4B5A"/>
                </a:solidFill>
                <a:latin typeface="Arial"/>
              </a:rPr>
              <a:t>Ordinal — un número por nivel, ordenado por su tasa de compra — le ganó a embeddings, target y hashing. </a:t>
            </a:r>
            <a:r>
              <a:rPr sz="1150" b="1">
                <a:solidFill>
                  <a:srgbClr val="3D4B5A"/>
                </a:solidFill>
                <a:latin typeface="Arial"/>
              </a:rPr>
              <a:t>Refutó nuestra propia hipótesis</a:t>
            </a:r>
            <a:r>
              <a:rPr sz="1150" b="0">
                <a:solidFill>
                  <a:srgbClr val="3D4B5A"/>
                </a:solidFill>
                <a:latin typeface="Arial"/>
              </a:rPr>
              <a:t>, que es lo que uno quiere de un experimento.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352896"/>
            <a:ext cx="11057839" cy="10972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462624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9B7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444336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42C"/>
                </a:solidFill>
                <a:latin typeface="Arial"/>
              </a:rPr>
              <a:t>El modelo es auditable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5736944"/>
            <a:ext cx="10234879" cy="66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4B5A"/>
                </a:solidFill>
                <a:latin typeface="Arial"/>
              </a:rPr>
              <a:t>Atención e importancia por permutación coinciden en qué mira, las probabilidades están calibradas, y elige bien el producto a promocionar el </a:t>
            </a:r>
            <a:r>
              <a:rPr sz="1150" b="1">
                <a:solidFill>
                  <a:srgbClr val="0E9B7E"/>
                </a:solidFill>
                <a:latin typeface="Arial"/>
              </a:rPr>
              <a:t>91%</a:t>
            </a:r>
            <a:r>
              <a:rPr sz="1150" b="0">
                <a:solidFill>
                  <a:srgbClr val="3D4B5A"/>
                </a:solidFill>
                <a:latin typeface="Arial"/>
              </a:rPr>
              <a:t> de las veces </a:t>
            </a:r>
            <a:r>
              <a:rPr sz="1150" b="0">
                <a:solidFill>
                  <a:srgbClr val="3D4B5A"/>
                </a:solidFill>
                <a:latin typeface="Arial"/>
              </a:rPr>
              <a:t>(azar 27%)</a:t>
            </a:r>
            <a:r>
              <a:rPr sz="1150" b="0">
                <a:solidFill>
                  <a:srgbClr val="3D4B5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7F6"/>
                </a:solidFill>
                <a:latin typeface="Arial"/>
              </a:rPr>
              <a:t>Gracias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697480"/>
            <a:ext cx="1051560" cy="82296"/>
          </a:xfrm>
          <a:prstGeom prst="roundRect">
            <a:avLst/>
          </a:prstGeom>
          <a:solidFill>
            <a:srgbClr val="0E9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9008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6B1"/>
                </a:solidFill>
                <a:latin typeface="Arial"/>
              </a:rPr>
              <a:t>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204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6B1"/>
                </a:solidFill>
                <a:latin typeface="Arial"/>
              </a:rPr>
              <a:t>Matias Rossi Seifert · Juan Bautista Albertoni Salini · Junior Rambau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Buy Through Rate con Transformers</dc:title>
  <dc:subject>TP1 · 73.69 Large Language Models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